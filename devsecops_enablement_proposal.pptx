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PROPOSAL  ·  CORE PROPOSITION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Enablement Proposal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Stabilise, Secure &amp; Standardise — </a:t>
            </a:r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Disrupting Existing Platforms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make your existing data platforms secure, reliable, and operable — without changing how your teams work.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069080" cy="512064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20240"/>
            <a:ext cx="50292" cy="5120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956816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transformation programme.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920240"/>
            <a:ext cx="4069080" cy="512064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920240"/>
            <a:ext cx="50292" cy="5120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1956816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layer across your existing ecosystem.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542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HORIZONTAL IMPROVEMENTS — ACROSS ALL PLATFORMS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779776"/>
            <a:ext cx="1572768" cy="1335024"/>
          </a:xfrm>
          <a:prstGeom prst="rect">
            <a:avLst/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79776"/>
            <a:ext cx="1572768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8712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0624" y="32552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82496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82496" y="2834640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82496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29968" y="2779776"/>
            <a:ext cx="1572768" cy="1335024"/>
          </a:xfrm>
          <a:prstGeom prst="rect">
            <a:avLst/>
          </a:prstGeom>
          <a:solidFill>
            <a:srgbClr val="E8E6F5"/>
          </a:solidFill>
          <a:ln w="9525">
            <a:solidFill>
              <a:srgbClr val="3A30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29968" y="2779776"/>
            <a:ext cx="1572768" cy="5029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28712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084832" y="32552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46704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46704" y="2834640"/>
            <a:ext cx="201168" cy="201168"/>
          </a:xfrm>
          <a:prstGeom prst="ellipse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46704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94176" y="2779776"/>
            <a:ext cx="1572768" cy="1335024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94176" y="2779776"/>
            <a:ext cx="1572768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8712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749040" y="32552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10912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10912" y="2834640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58384" y="2779776"/>
            <a:ext cx="1572768" cy="1335024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58384" y="2779776"/>
            <a:ext cx="1572768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13248" y="28712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413248" y="32552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75120" y="2834640"/>
            <a:ext cx="201168" cy="201168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22592" y="2779776"/>
            <a:ext cx="1572768" cy="1335024"/>
          </a:xfrm>
          <a:prstGeom prst="rect">
            <a:avLst/>
          </a:prstGeom>
          <a:solidFill>
            <a:srgbClr val="FFF2CC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22592" y="2779776"/>
            <a:ext cx="1572768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7456" y="28712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077456" y="32552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39328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39328" y="2834640"/>
            <a:ext cx="201168" cy="201168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9328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4224528"/>
            <a:ext cx="8412480" cy="676656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2793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· Fivetran · Databricks · PySpark · AWS</a:t>
            </a:r>
            <a:pPr algn="ctr" indent="0" marL="0">
              <a:buNone/>
            </a:pPr>
            <a:r>
              <a:rPr lang="en-US" sz="10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improvements · No architecture changes · No team disruption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TRUST BOUNDARY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Enablement Proposal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NOT Change —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Design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minimise disruption and build trust quickly, we have deliberately constrained our scope. Everything below remains exactly as it is today.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069080" cy="1261872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517904"/>
            <a:ext cx="40690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093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Existing Data 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920240"/>
            <a:ext cx="3904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Databricks, Fivetran, and PySpark remain exactly as designed. No schema changes, no data model changes, no re-platforming.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1517904"/>
            <a:ext cx="4069080" cy="1261872"/>
          </a:xfrm>
          <a:prstGeom prst="rect">
            <a:avLst/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1517904"/>
            <a:ext cx="4069080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6093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Tooling Choices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920240"/>
            <a:ext cx="3904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across your existing tool estate. No forced migrations, no new mandatory platforms, no 'rip and replace'.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4069080" cy="1261872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89504"/>
            <a:ext cx="4069080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809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Ownership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3904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retains full ownership of their pipelines and data products. We add a control layer — we do not take ownership away.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26280" y="2889504"/>
            <a:ext cx="4069080" cy="1261872"/>
          </a:xfrm>
          <a:prstGeom prst="rect">
            <a:avLst/>
          </a:prstGeom>
          <a:solidFill>
            <a:srgbClr val="E8E6F5"/>
          </a:solidFill>
          <a:ln w="9525">
            <a:solidFill>
              <a:srgbClr val="3A30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2889504"/>
            <a:ext cx="4069080" cy="5029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9809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No Forced Redesigns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3291840"/>
            <a:ext cx="3904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additive, not disruptive. We introduce consistency on top of what exists — we do not mandate a redesign as a prerequisite.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0390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 ON TOP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15910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23360"/>
            <a:ext cx="50292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405993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CI/CD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48256" y="4023360"/>
            <a:ext cx="15910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48256" y="4023360"/>
            <a:ext cx="50292" cy="384048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405993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security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30752" y="4023360"/>
            <a:ext cx="15910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30752" y="4023360"/>
            <a:ext cx="50292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77056" y="405993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13248" y="4023360"/>
            <a:ext cx="15910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13248" y="4023360"/>
            <a:ext cx="50292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405993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governance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95744" y="4023360"/>
            <a:ext cx="15910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95744" y="4023360"/>
            <a:ext cx="50292" cy="38404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405993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498848"/>
            <a:ext cx="8412480" cy="40233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5354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operate as a central DevSecOps enablement layer — standardise, integrate, and support without changing how teams deliver."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1 &amp; 2  ·  DELIVERY &amp; 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Enablement Proposal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Delivery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Security by Design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521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CAPABILITY 1: CONTROLLED DELIVERY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389888"/>
            <a:ext cx="4069080" cy="347472"/>
          </a:xfrm>
          <a:prstGeom prst="rect">
            <a:avLst/>
          </a:prstGeom>
          <a:solidFill>
            <a:srgbClr val="DCE6F1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89888"/>
            <a:ext cx="5029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1732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across ALL tools goes through a controlled pipeline.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4069080" cy="438912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28800"/>
            <a:ext cx="5029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836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36192" y="1883664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SQL deployment pipelines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4069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22576"/>
            <a:ext cx="5029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77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36192" y="2377440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clusters, configs — version controlled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16352"/>
            <a:ext cx="4069080" cy="438912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816352"/>
            <a:ext cx="5029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8712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36192" y="287121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package → deploy — standardised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310128"/>
            <a:ext cx="4069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310128"/>
            <a:ext cx="5029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3649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536192" y="336499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changes via code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71246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913632"/>
            <a:ext cx="1261872" cy="38404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931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manual deployments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700784" y="3913632"/>
            <a:ext cx="1261872" cy="38404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73936" y="3931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environment drift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35808" y="3913632"/>
            <a:ext cx="1261872" cy="38404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3931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Predictable, repeatable releases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1115568"/>
            <a:ext cx="18288" cy="34747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1521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CAPABILITY 2: SECURITY BY DESIGN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1389888"/>
            <a:ext cx="4069080" cy="347472"/>
          </a:xfrm>
          <a:prstGeom prst="rect">
            <a:avLst/>
          </a:prstGeom>
          <a:solidFill>
            <a:srgbClr val="E8E6F5"/>
          </a:solidFill>
          <a:ln w="9525">
            <a:solidFill>
              <a:srgbClr val="8B80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1389888"/>
            <a:ext cx="50292" cy="34747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141732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without changing your platforms.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1828800"/>
            <a:ext cx="4069080" cy="438912"/>
          </a:xfrm>
          <a:prstGeom prst="rect">
            <a:avLst/>
          </a:prstGeom>
          <a:solidFill>
            <a:srgbClr val="E8E6F5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1828800"/>
            <a:ext cx="50292" cy="43891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186537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secrets management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18888" y="204825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AWS Secrets Manager — unified model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2322576"/>
            <a:ext cx="4069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2322576"/>
            <a:ext cx="50292" cy="43891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235915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hardcoded credentials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18888" y="254203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platforms — zero tolerance policy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9160" y="2816352"/>
            <a:ext cx="4069080" cy="438912"/>
          </a:xfrm>
          <a:prstGeom prst="rect">
            <a:avLst/>
          </a:prstGeom>
          <a:solidFill>
            <a:srgbClr val="E8E6F5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2816352"/>
            <a:ext cx="50292" cy="43891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285292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&amp; IaC scanning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18888" y="303580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every pipeline automatically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3310128"/>
            <a:ext cx="4069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310128"/>
            <a:ext cx="50292" cy="43891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18888" y="334670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access control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18888" y="352958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Snowflake · Databricks — consistent patterns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09160" y="371246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09160" y="3913632"/>
            <a:ext cx="1261872" cy="384048"/>
          </a:xfrm>
          <a:prstGeom prst="rect">
            <a:avLst/>
          </a:prstGeom>
          <a:solidFill>
            <a:srgbClr val="E8E6F5"/>
          </a:solidFill>
          <a:ln w="9525">
            <a:solidFill>
              <a:srgbClr val="8B80D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82312" y="3931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 security posture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44184" y="3913632"/>
            <a:ext cx="1261872" cy="384048"/>
          </a:xfrm>
          <a:prstGeom prst="rect">
            <a:avLst/>
          </a:prstGeom>
          <a:solidFill>
            <a:srgbClr val="E8E6F5"/>
          </a:solidFill>
          <a:ln w="9525">
            <a:solidFill>
              <a:srgbClr val="8B80D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17336" y="3931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audit trail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379208" y="3913632"/>
            <a:ext cx="1261872" cy="384048"/>
          </a:xfrm>
          <a:prstGeom prst="rect">
            <a:avLst/>
          </a:prstGeom>
          <a:solidFill>
            <a:srgbClr val="E8E6F5"/>
          </a:solidFill>
          <a:ln w="9525">
            <a:solidFill>
              <a:srgbClr val="8B80D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2360" y="3931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re-architecture needed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4439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source of truth for all changes.  </a:t>
            </a:r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gates in every pipeline.  </a:t>
            </a:r>
            <a:pPr algn="ctr" indent="0" marL="0">
              <a:buNone/>
            </a:pPr>
            <a:r>
              <a:rPr lang="en-US" sz="10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in code — ever.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3 &amp; 4  ·  OBSERVABILITY &amp; 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Enablement Proposal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Controlled Change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521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CAPABILITY 3: UNIFIED OBSERVABILITY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389888"/>
            <a:ext cx="4069080" cy="347472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89888"/>
            <a:ext cx="5029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1732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see everything — without touching your core systems.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406908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28800"/>
            <a:ext cx="50292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6537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Central observability layer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204825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or OSS stack — your choice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304288"/>
            <a:ext cx="4069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04288"/>
            <a:ext cx="50292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408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Standardised metrics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2523744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success/failure, duration, SLOs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779776"/>
            <a:ext cx="406908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779776"/>
            <a:ext cx="50292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81635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Centralised log aggregation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" y="2999232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Databricks + Snowflake — unified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255264"/>
            <a:ext cx="4069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255264"/>
            <a:ext cx="50292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29184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SLO-driven alerting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" y="3474720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over noise — no alert fatigue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Data pipelines  ·  Infrastructure  ·  Job execution  ·  Cross-platform health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398678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169664"/>
            <a:ext cx="1261872" cy="347472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18795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detection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700784" y="4169664"/>
            <a:ext cx="1261872" cy="347472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73936" y="418795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visibility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35808" y="4169664"/>
            <a:ext cx="1261872" cy="347472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418795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Less firefighting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1115568"/>
            <a:ext cx="18288" cy="34747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1521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CAPABILITY 4: CHANGE &amp; RELEASE GOVERNANCE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1389888"/>
            <a:ext cx="4069080" cy="347472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1389888"/>
            <a:ext cx="50292" cy="34747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141732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change without slowing teams down.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1828800"/>
            <a:ext cx="406908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1828800"/>
            <a:ext cx="50292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1865376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Standard approval gates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18888" y="204825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Harness integration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2304288"/>
            <a:ext cx="4069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2304288"/>
            <a:ext cx="50292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23408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Environment promotion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18888" y="2523744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Non-Prod → Prod — enforced flow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2779776"/>
            <a:ext cx="406908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2779776"/>
            <a:ext cx="50292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281635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Full change traceability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18888" y="2999232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when, through which pipeline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09160" y="3255264"/>
            <a:ext cx="4069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9160" y="3255264"/>
            <a:ext cx="50292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18888" y="329184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Compliance-ready process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18888" y="3474720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every deployment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09160" y="3749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RISK: Manual approvals · Limited traceability · Unverified deployments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09160" y="398678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09160" y="4169664"/>
            <a:ext cx="1261872" cy="347472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418795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 governance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44184" y="4169664"/>
            <a:ext cx="1261872" cy="347472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7336" y="418795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risk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379208" y="4169664"/>
            <a:ext cx="1261872" cy="347472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52360" y="418795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Compliance-ready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65760" y="4553712"/>
            <a:ext cx="8412480" cy="347472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5811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visible, traceable, and controlled.  </a:t>
            </a:r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stay fast. Governance stays intact.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5  ·  COST VISIBILITY &amp; CONTROL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Enablement Proposal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Visibility — </a:t>
            </a:r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Executive Value, Without Disruption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347472"/>
          </a:xfrm>
          <a:prstGeom prst="rect">
            <a:avLst/>
          </a:prstGeom>
          <a:solidFill>
            <a:srgbClr val="FFF2CC"/>
          </a:solidFill>
          <a:ln w="9525">
            <a:solidFill>
              <a:srgbClr val="F2C8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50292" cy="347472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97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spread across multiple AWS accounts and tools — with limited visibility by team or pipeline. We fix that without touching your platforms.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6093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LIMITED VISIBILITY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847088"/>
            <a:ext cx="4069080" cy="402336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47088"/>
            <a:ext cx="50292" cy="40233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0195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spread across multiple AWS accounts and tools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4069080" cy="402336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04288"/>
            <a:ext cx="50292" cy="40233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35915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attribution by team, pipeline, or environment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761488"/>
            <a:ext cx="4069080" cy="402336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61488"/>
            <a:ext cx="50292" cy="40233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81635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cannot self-serve cost breakdowns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218688"/>
            <a:ext cx="4069080" cy="402336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18688"/>
            <a:ext cx="50292" cy="40233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7355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Inefficiencies invisible until the bill arrives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62272" y="1609344"/>
            <a:ext cx="201168" cy="2926080"/>
          </a:xfrm>
          <a:prstGeom prst="rect">
            <a:avLst/>
          </a:prstGeom>
          <a:solidFill>
            <a:srgbClr val="EEF2F7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2926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9160" y="16093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 — FULL ATTRIBUTION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1847088"/>
            <a:ext cx="4069080" cy="402336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847088"/>
            <a:ext cx="50292" cy="40233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8836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by team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18888" y="204825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sees their own spend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304288"/>
            <a:ext cx="4069080" cy="402336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304288"/>
            <a:ext cx="50292" cy="40233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3408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by pipeline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18888" y="250545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jobs cost the most — instantly visible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2761488"/>
            <a:ext cx="4069080" cy="402336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761488"/>
            <a:ext cx="50292" cy="40233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7980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visibility &amp; alerting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18888" y="296265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 before overspend happens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218688"/>
            <a:ext cx="4069080" cy="402336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218688"/>
            <a:ext cx="50292" cy="40233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2552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enforced via pipelines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18888" y="341985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untagged resource can be deployed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" y="3767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968496"/>
            <a:ext cx="2011680" cy="384048"/>
          </a:xfrm>
          <a:prstGeom prst="rect">
            <a:avLst/>
          </a:prstGeom>
          <a:solidFill>
            <a:srgbClr val="FFF2CC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968496"/>
            <a:ext cx="50292" cy="38404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" y="40050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Transparent cost ownership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50592" y="3968496"/>
            <a:ext cx="2011680" cy="384048"/>
          </a:xfrm>
          <a:prstGeom prst="rect">
            <a:avLst/>
          </a:prstGeom>
          <a:solidFill>
            <a:srgbClr val="FFF2CC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50592" y="3968496"/>
            <a:ext cx="50292" cy="38404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96896" y="40050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Identify inefficiencies proactively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35424" y="3968496"/>
            <a:ext cx="2011680" cy="384048"/>
          </a:xfrm>
          <a:prstGeom prst="rect">
            <a:avLst/>
          </a:prstGeom>
          <a:solidFill>
            <a:srgbClr val="FFF2CC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35424" y="3968496"/>
            <a:ext cx="50292" cy="38404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40050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financial control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620256" y="3968496"/>
            <a:ext cx="2011680" cy="384048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20256" y="3968496"/>
            <a:ext cx="50292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40050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platform changes required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" y="4443984"/>
            <a:ext cx="8412480" cy="4572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"Transparent cost ownership. Identification of inefficiencies. Better financial control — without changing platforms."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ADVANTAGE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Enablement Proposal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vs.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State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1463040" cy="3108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24358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01952" y="1188720"/>
            <a:ext cx="3346704" cy="310896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1243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21808" y="1188720"/>
            <a:ext cx="3456432" cy="310896"/>
          </a:xfrm>
          <a:prstGeom prst="rect">
            <a:avLst/>
          </a:prstGeom>
          <a:solidFill>
            <a:srgbClr val="375623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24358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DEVSECOPS ENABLEMENT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536192"/>
            <a:ext cx="14630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6093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01952" y="1536192"/>
            <a:ext cx="3346704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1952" y="1536192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160934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ad-hoc, per-tool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21808" y="1536192"/>
            <a:ext cx="3456432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21808" y="1536192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609344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CI/CD across all platforms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048256"/>
            <a:ext cx="14630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12140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01952" y="2048256"/>
            <a:ext cx="3346704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1952" y="2048256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2121408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— differs per team/tool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21808" y="2048256"/>
            <a:ext cx="3456432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21808" y="2048256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9824" y="2121408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Centralised, automated, audit-ready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560320"/>
            <a:ext cx="14630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63347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01952" y="2560320"/>
            <a:ext cx="3346704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1952" y="2560320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29968" y="263347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— CloudWatch, Databricks, Snowflake logs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21808" y="2560320"/>
            <a:ext cx="3456432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1808" y="2560320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9824" y="2633472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— one view, SLO-driven alerts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072384"/>
            <a:ext cx="14630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314553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01952" y="3072384"/>
            <a:ext cx="3346704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01952" y="3072384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29968" y="3145536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approvals, limited traceability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21808" y="3072384"/>
            <a:ext cx="3456432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21808" y="3072384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9824" y="3145536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promotion: Dev → Non-Prod → Prod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3584448"/>
            <a:ext cx="14630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365760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01952" y="3584448"/>
            <a:ext cx="3346704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01952" y="3584448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29968" y="365760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until the bill arrives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321808" y="3584448"/>
            <a:ext cx="3456432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21808" y="3584448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9824" y="3657600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by team, pipeline, environment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4096512"/>
            <a:ext cx="14630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16966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901952" y="4096512"/>
            <a:ext cx="3346704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01952" y="4096512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29968" y="416966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configs and pipelines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321808" y="4096512"/>
            <a:ext cx="3456432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21808" y="4096512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49824" y="4169664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Vault — zero hardcoded credentials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4462272"/>
            <a:ext cx="8412480" cy="43891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 continues using its existing platforms —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operates them as a single, controlled system.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 &amp; POSITIONING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Enablement Proposal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Engage —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Why This Approach Works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704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OPERATE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26464"/>
            <a:ext cx="4069080" cy="676656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426464"/>
            <a:ext cx="50292" cy="6766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99616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Central enablement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175564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across all platforms — not inside any one team. We standardise once, benefit every team.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4069080" cy="676656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94560"/>
            <a:ext cx="50292" cy="67665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67712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Support without disruption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25237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integrate with existing delivery without changing how teams work day-to-day.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962656"/>
            <a:ext cx="4069080" cy="676656"/>
          </a:xfrm>
          <a:prstGeom prst="rect">
            <a:avLst/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62656"/>
            <a:ext cx="50292" cy="6766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035808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Proven, reusable patterns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329184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template, security gate, and observability config we deliver is reusable across all platforms.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4069080" cy="676656"/>
          </a:xfrm>
          <a:prstGeom prst="rect">
            <a:avLst/>
          </a:prstGeom>
          <a:solidFill>
            <a:srgbClr val="FFF2CC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30752"/>
            <a:ext cx="50292" cy="676656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803904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Future-optional evolution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" y="405993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foundation is in place: platform optimisation, data flow standardisation, and cost improvements become natural next steps — not prerequisites.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1115568"/>
            <a:ext cx="18288" cy="347472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1704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ADVANTAGE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1426464"/>
            <a:ext cx="4069080" cy="512064"/>
          </a:xfrm>
          <a:prstGeom prst="rect">
            <a:avLst/>
          </a:prstGeom>
          <a:solidFill>
            <a:srgbClr val="EEF2F7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426464"/>
            <a:ext cx="50292" cy="5120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151790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CI/CD becomes standardised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993392"/>
            <a:ext cx="4069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1993392"/>
            <a:ext cx="50292" cy="512064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20848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becomes centralised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560320"/>
            <a:ext cx="4069080" cy="512064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560320"/>
            <a:ext cx="50292" cy="5120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26517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Observability becomes unified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127248"/>
            <a:ext cx="4069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127248"/>
            <a:ext cx="50292" cy="5120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7176" y="32186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Governance becomes consistent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694176"/>
            <a:ext cx="4069080" cy="512064"/>
          </a:xfrm>
          <a:prstGeom prst="rect">
            <a:avLst/>
          </a:prstGeom>
          <a:solidFill>
            <a:srgbClr val="EEF2F7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694176"/>
            <a:ext cx="50292" cy="512064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37176" y="37856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Costs become visible &amp; owned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4279392"/>
            <a:ext cx="4069080" cy="60350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431596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18888" y="44988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platforms. Single controlled system.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407408"/>
            <a:ext cx="406908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44256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not here to redesign your platforms.
</a:t>
            </a:r>
            <a:pPr indent="0" marL="0">
              <a:buNone/>
            </a:pPr>
            <a:r>
              <a:rPr lang="en-US" sz="9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 to make them secure, reliable, and operable."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DevSecOps Enablement Proposal</dc:title>
  <dc:subject>PptxGenJS Presentation</dc:subject>
  <dc:creator>PptxGenJS</dc:creator>
  <cp:lastModifiedBy>PptxGenJS</cp:lastModifiedBy>
  <cp:revision>1</cp:revision>
  <dcterms:created xsi:type="dcterms:W3CDTF">2026-03-26T08:30:50Z</dcterms:created>
  <dcterms:modified xsi:type="dcterms:W3CDTF">2026-03-26T08:30:50Z</dcterms:modified>
</cp:coreProperties>
</file>