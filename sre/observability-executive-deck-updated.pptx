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7" r:id="rId6"/>
    <p:sldId id="268" r:id="rId7"/>
    <p:sldId id="261" r:id="rId8"/>
    <p:sldId id="269" r:id="rId9"/>
    <p:sldId id="270" r:id="rId10"/>
    <p:sldId id="271" r:id="rId11"/>
    <p:sldId id="262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604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522D7-52B2-F3EE-92C4-726703BFF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7AF11-4651-E2CE-5549-D1080BFB7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87EE7-DB56-EE55-C495-2AD2C73F0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B95F5-9D78-06F1-C1D8-0AD36318D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2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1C09D-0B88-9485-086D-6C496B303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B4AD5-8104-A86F-B3A9-B639F57CE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D031F2-EEEC-AA56-0188-FAECC4740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0F80C-6492-052F-A3B8-46D053C47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92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366A0-105B-7985-3302-CC1E85B1D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CED12-F829-15D0-275C-8CC1DFA2D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95C51-84A6-E6B0-A7F6-275677938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8B70F-0C48-FA29-F0E7-1AE44F877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7172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731520"/>
            <a:ext cx="3474720" cy="3474720"/>
          </a:xfrm>
          <a:prstGeom prst="ellipse">
            <a:avLst/>
          </a:prstGeom>
          <a:solidFill>
            <a:srgbClr val="243870">
              <a:alpha val="60000"/>
            </a:srgbClr>
          </a:solidFill>
          <a:ln w="12700">
            <a:solidFill>
              <a:srgbClr val="24387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560320"/>
            <a:ext cx="2286000" cy="2286000"/>
          </a:xfrm>
          <a:prstGeom prst="ellipse">
            <a:avLst/>
          </a:prstGeom>
          <a:solidFill>
            <a:srgbClr val="243870">
              <a:alpha val="40000"/>
            </a:srgbClr>
          </a:solidFill>
          <a:ln w="12700">
            <a:solidFill>
              <a:srgbClr val="24387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1B3E"/>
                </a:solidFill>
              </a:rPr>
              <a:t>EECUTIVE BRIEFING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Observability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Strategy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 Architecture · Open Source &amp; Dynatrace · L1/L2/L3 Support Model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274320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·  Observability Centre of Excellence  ·  Confidential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4747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Challenge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54864" cy="8686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784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850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visibility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143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tools for AWS, Azure, on-prem and AI systems. No single view of platform health.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178308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" y="1783080"/>
            <a:ext cx="54864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98424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1856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blind spots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0584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 and Snowflake environments go unmonitored. Issues surface late, after impact.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" y="278892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0040" y="2788920"/>
            <a:ext cx="54864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9008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incident response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0584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L1/L2/L3 teams lack shared context. Mean time to resolution is high and escalation paths are unclear.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0040" y="379476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320040" y="3794760"/>
            <a:ext cx="54864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99592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867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growth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0584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and agentic workloads are scaling fast with no standardised way to trace prompts, tokens or agents.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663440" y="777240"/>
            <a:ext cx="4160520" cy="4023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484632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846320" y="1298448"/>
            <a:ext cx="3474720" cy="22860"/>
          </a:xfrm>
          <a:prstGeom prst="rect">
            <a:avLst/>
          </a:prstGeom>
          <a:solidFill>
            <a:srgbClr val="243870"/>
          </a:solidFill>
          <a:ln w="12700">
            <a:solidFill>
              <a:srgbClr val="2438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1554480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12080" y="15087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unified view across all environments</a:t>
            </a:r>
            <a:endParaRPr lang="en-US" sz="11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103120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212080" y="20574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telemetry — metrics, logs, and traces</a:t>
            </a:r>
            <a:endParaRPr lang="en-US" sz="11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651760"/>
            <a:ext cx="256032" cy="25603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212080" y="26060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support model: L1 (ops) → L2 (engineering) → L3 (AI/data)</a:t>
            </a:r>
            <a:endParaRPr lang="en-US" sz="11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200400"/>
            <a:ext cx="256032" cy="25603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12080" y="31546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AI &amp; data pipeline observability</a:t>
            </a:r>
            <a:endParaRPr lang="en-US" sz="11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749040"/>
            <a:ext cx="256032" cy="25603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212080" y="37033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to evolve without full vendor lock-in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integrated layers — from client workloads to AI observability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649224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347472" cy="34747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051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environments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2801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Azure · On-Prem · EKS · AI/LLM Systems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1554480"/>
            <a:ext cx="3657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609344"/>
            <a:ext cx="6492240" cy="566928"/>
          </a:xfrm>
          <a:prstGeom prst="rect">
            <a:avLst/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1719072"/>
            <a:ext cx="347472" cy="347472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16733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collection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190195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SDKs · Prometheus · Promtail · Dynatrace OneAgent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2176272"/>
            <a:ext cx="3657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231136"/>
            <a:ext cx="6492240" cy="566928"/>
          </a:xfrm>
          <a:prstGeom prst="rect">
            <a:avLst/>
          </a:prstGeom>
          <a:solidFill>
            <a:srgbClr val="E6F1FB"/>
          </a:solidFill>
          <a:ln w="1270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2340864"/>
            <a:ext cx="347472" cy="347472"/>
          </a:xfrm>
          <a:prstGeom prst="ellipse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295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routing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2523744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Gateway · Kafka (optional) · Dynatrace Ingest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2798064"/>
            <a:ext cx="3657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2852928"/>
            <a:ext cx="6492240" cy="566928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2962656"/>
            <a:ext cx="347472" cy="347472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2916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observability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145536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Logs · Traces · Alerting (real-time)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29000" y="3419856"/>
            <a:ext cx="3657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3474720"/>
            <a:ext cx="6492240" cy="566928"/>
          </a:xfrm>
          <a:prstGeom prst="rect">
            <a:avLst/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3584448"/>
            <a:ext cx="347472" cy="347472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" y="3538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&amp; access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" y="37673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· Dynatrace UI · Single pane of glass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29000" y="4041648"/>
            <a:ext cx="3657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0040" y="4096512"/>
            <a:ext cx="6492240" cy="566928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11480" y="4206240"/>
            <a:ext cx="347472" cy="347472"/>
          </a:xfrm>
          <a:prstGeom prst="ellipse">
            <a:avLst/>
          </a:prstGeom>
          <a:solidFill>
            <a:srgbClr val="AFA9EC"/>
          </a:solidFill>
          <a:ln w="1270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148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4160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layer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8680" y="438912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· Observe · Langfuse · GenAI tracing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95160" y="987552"/>
            <a:ext cx="1828800" cy="3886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086600" y="1051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principles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132320" y="1572768"/>
            <a:ext cx="1554480" cy="22860"/>
          </a:xfrm>
          <a:prstGeom prst="rect">
            <a:avLst/>
          </a:prstGeom>
          <a:solidFill>
            <a:srgbClr val="243870"/>
          </a:solidFill>
          <a:ln w="12700">
            <a:solidFill>
              <a:srgbClr val="2438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1728216"/>
            <a:ext cx="201168" cy="201168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7315200" y="1691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 (OTel throughout)</a:t>
            </a:r>
            <a:endParaRPr lang="en-US" sz="950" dirty="0"/>
          </a:p>
        </p:txBody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2350008"/>
            <a:ext cx="201168" cy="201168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7315200" y="23134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</a:t>
            </a:r>
            <a:endParaRPr lang="en-US" sz="950" dirty="0"/>
          </a:p>
        </p:txBody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2971800"/>
            <a:ext cx="201168" cy="201168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7315200" y="293522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Dual-track: OSS + Dynatrace</a:t>
            </a:r>
            <a:endParaRPr lang="en-US" sz="950" dirty="0"/>
          </a:p>
        </p:txBody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3593592"/>
            <a:ext cx="201168" cy="201168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7315200" y="355701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outbound only</a:t>
            </a:r>
            <a:endParaRPr lang="en-US" sz="950" dirty="0"/>
          </a:p>
        </p:txBody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4215384"/>
            <a:ext cx="201168" cy="201168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7315200" y="41788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from lean to enterprise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Options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proven paths — both built on OpenTelemetry open standards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977640" cy="3401568"/>
          </a:xfrm>
          <a:prstGeom prst="rect">
            <a:avLst/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3977640" cy="43891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 Stack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5361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45920" y="1600200"/>
            <a:ext cx="22860" cy="201168"/>
          </a:xfrm>
          <a:prstGeom prst="rect">
            <a:avLst/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37360" y="15361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Mimir / Prometheus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1965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45920" y="2029968"/>
            <a:ext cx="22860" cy="201168"/>
          </a:xfrm>
          <a:prstGeom prst="rect">
            <a:avLst/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37360" y="1965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95728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3957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45920" y="2459736"/>
            <a:ext cx="22860" cy="201168"/>
          </a:xfrm>
          <a:prstGeom prst="rect">
            <a:avLst/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737360" y="23957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25496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8254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0" y="2889504"/>
            <a:ext cx="22860" cy="201168"/>
          </a:xfrm>
          <a:prstGeom prst="rect">
            <a:avLst/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737360" y="28254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55264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2552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45920" y="3319272"/>
            <a:ext cx="22860" cy="201168"/>
          </a:xfrm>
          <a:prstGeom prst="rect">
            <a:avLst/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737360" y="3255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685032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3685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3749040"/>
            <a:ext cx="22860" cy="201168"/>
          </a:xfrm>
          <a:prstGeom prst="rect">
            <a:avLst/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737360" y="36850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+ OTel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1005840"/>
            <a:ext cx="3977640" cy="3401568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46320" y="1005840"/>
            <a:ext cx="3977640" cy="43891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3480" y="10058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Dynatrace Platform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983480" y="1536192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74920" y="15361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1600200"/>
            <a:ext cx="22860" cy="201168"/>
          </a:xfrm>
          <a:prstGeom prst="rect">
            <a:avLst/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63640" y="15361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Metrics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83480" y="1965960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74920" y="1965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72200" y="2029968"/>
            <a:ext cx="22860" cy="201168"/>
          </a:xfrm>
          <a:prstGeom prst="rect">
            <a:avLst/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63640" y="1965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Logs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83480" y="2395728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74920" y="23957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72200" y="2459736"/>
            <a:ext cx="22860" cy="201168"/>
          </a:xfrm>
          <a:prstGeom prst="rect">
            <a:avLst/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63640" y="23957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983480" y="2825496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74920" y="28254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72200" y="2889504"/>
            <a:ext cx="22860" cy="201168"/>
          </a:xfrm>
          <a:prstGeom prst="rect">
            <a:avLst/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63640" y="28254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AI (automatic)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983480" y="3255264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74920" y="32552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72200" y="3319272"/>
            <a:ext cx="22860" cy="201168"/>
          </a:xfrm>
          <a:prstGeom prst="rect">
            <a:avLst/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63640" y="3255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UI + AI insights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983480" y="3685032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74920" y="3685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tracing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72200" y="3749040"/>
            <a:ext cx="22860" cy="201168"/>
          </a:xfrm>
          <a:prstGeom prst="rect">
            <a:avLst/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263640" y="36850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GenAI Observability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0040" y="4498848"/>
            <a:ext cx="850392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2438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20040" y="4498848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02920" y="44988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by both paths: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423160" y="4498848"/>
            <a:ext cx="6263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 ·  Observe  ·  OpenTelemetry backbone  ·  Grafana 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— Collection, Ingestion &amp; Core Observability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475488"/>
            <a:ext cx="9144000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754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1–3  ·  Data in, route, store &amp; alert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553212"/>
            <a:ext cx="118872" cy="118872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47872" y="493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path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85232" y="553212"/>
            <a:ext cx="118872" cy="118872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49824" y="493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path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87184" y="553212"/>
            <a:ext cx="118872" cy="118872"/>
          </a:xfrm>
          <a:prstGeom prst="ellipse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51776" y="493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/ common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5033772"/>
            <a:ext cx="8595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·  Observability Centre of Excellence  ·  Confidential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6347" y="807970"/>
            <a:ext cx="8814816" cy="310896"/>
          </a:xfrm>
          <a:prstGeom prst="rect">
            <a:avLst/>
          </a:prstGeom>
          <a:solidFill>
            <a:srgbClr val="F8F7F3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7863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WORKLOAD ENVIRONMENTS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999232" y="855339"/>
            <a:ext cx="457200" cy="210312"/>
          </a:xfrm>
          <a:prstGeom prst="roundRect">
            <a:avLst>
              <a:gd name="adj" fmla="val 43478"/>
            </a:avLst>
          </a:prstGeom>
          <a:solidFill>
            <a:srgbClr val="F1EFE8"/>
          </a:solidFill>
          <a:ln w="635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99232" y="855339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502152" y="855339"/>
            <a:ext cx="457200" cy="210312"/>
          </a:xfrm>
          <a:prstGeom prst="roundRect">
            <a:avLst>
              <a:gd name="adj" fmla="val 43478"/>
            </a:avLst>
          </a:prstGeom>
          <a:solidFill>
            <a:srgbClr val="F1EFE8"/>
          </a:solidFill>
          <a:ln w="635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02152" y="855339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005072" y="855339"/>
            <a:ext cx="588874" cy="210312"/>
          </a:xfrm>
          <a:prstGeom prst="roundRect">
            <a:avLst>
              <a:gd name="adj" fmla="val 43478"/>
            </a:avLst>
          </a:prstGeom>
          <a:solidFill>
            <a:srgbClr val="F1EFE8"/>
          </a:solidFill>
          <a:ln w="635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05072" y="855339"/>
            <a:ext cx="5888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39666" y="855339"/>
            <a:ext cx="457200" cy="210312"/>
          </a:xfrm>
          <a:prstGeom prst="roundRect">
            <a:avLst>
              <a:gd name="adj" fmla="val 43478"/>
            </a:avLst>
          </a:prstGeom>
          <a:solidFill>
            <a:srgbClr val="F1EFE8"/>
          </a:solidFill>
          <a:ln w="635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39666" y="855339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42586" y="855339"/>
            <a:ext cx="457200" cy="210312"/>
          </a:xfrm>
          <a:prstGeom prst="roundRect">
            <a:avLst>
              <a:gd name="adj" fmla="val 43478"/>
            </a:avLst>
          </a:prstGeom>
          <a:solidFill>
            <a:srgbClr val="F1EFE8"/>
          </a:solidFill>
          <a:ln w="635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42586" y="855339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645506" y="855339"/>
            <a:ext cx="1049731" cy="210312"/>
          </a:xfrm>
          <a:prstGeom prst="roundRect">
            <a:avLst>
              <a:gd name="adj" fmla="val 43478"/>
            </a:avLst>
          </a:prstGeom>
          <a:solidFill>
            <a:srgbClr val="F1EFE8"/>
          </a:solidFill>
          <a:ln w="635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45506" y="855339"/>
            <a:ext cx="104973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740957" y="855339"/>
            <a:ext cx="1181405" cy="210312"/>
          </a:xfrm>
          <a:prstGeom prst="roundRect">
            <a:avLst>
              <a:gd name="adj" fmla="val 43478"/>
            </a:avLst>
          </a:prstGeom>
          <a:solidFill>
            <a:srgbClr val="F1EFE8"/>
          </a:solidFill>
          <a:ln w="635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40957" y="855339"/>
            <a:ext cx="11814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Systems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62856" y="1097280"/>
            <a:ext cx="18288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rot="10800000">
            <a:off x="4507992" y="1188720"/>
            <a:ext cx="128016" cy="82296"/>
          </a:xfrm>
          <a:prstGeom prst="triangl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64592" y="1225296"/>
            <a:ext cx="8814816" cy="237744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6032" y="1243584"/>
            <a:ext cx="201168" cy="201168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6032" y="1243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404"/>
                </a:solidFill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0352" y="1225296"/>
            <a:ext cx="8357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COLLECTION — STANDARDISED LAYER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64592" y="1463040"/>
            <a:ext cx="4361688" cy="731520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56032" y="1517904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PATH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6032" y="1664208"/>
            <a:ext cx="4178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Promtail / OTel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56032" y="1947672"/>
            <a:ext cx="822960" cy="192024"/>
          </a:xfrm>
          <a:prstGeom prst="roundRect">
            <a:avLst>
              <a:gd name="adj" fmla="val 47619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56032" y="1947672"/>
            <a:ext cx="822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133856" y="1947672"/>
            <a:ext cx="691286" cy="192024"/>
          </a:xfrm>
          <a:prstGeom prst="roundRect">
            <a:avLst>
              <a:gd name="adj" fmla="val 47619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133856" y="1947672"/>
            <a:ext cx="6912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Promtail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880006" y="1947672"/>
            <a:ext cx="757123" cy="192024"/>
          </a:xfrm>
          <a:prstGeom prst="roundRect">
            <a:avLst>
              <a:gd name="adj" fmla="val 47619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880006" y="1947672"/>
            <a:ext cx="75712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SDKs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0" y="1463040"/>
            <a:ext cx="0" cy="73152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17720" y="1463040"/>
            <a:ext cx="4361688" cy="731520"/>
          </a:xfrm>
          <a:prstGeom prst="rect">
            <a:avLst/>
          </a:prstGeom>
          <a:solidFill>
            <a:srgbClr val="EEEDFE"/>
          </a:solidFill>
          <a:ln w="635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09160" y="1517904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PATH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709160" y="1664208"/>
            <a:ext cx="4178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OneAgent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09160" y="1947672"/>
            <a:ext cx="691286" cy="192024"/>
          </a:xfrm>
          <a:prstGeom prst="roundRect">
            <a:avLst>
              <a:gd name="adj" fmla="val 4761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709160" y="1947672"/>
            <a:ext cx="6912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OneAgent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455310" y="1947672"/>
            <a:ext cx="1152144" cy="192024"/>
          </a:xfrm>
          <a:prstGeom prst="roundRect">
            <a:avLst>
              <a:gd name="adj" fmla="val 4761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455310" y="1947672"/>
            <a:ext cx="1152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Auto-instrument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37744" y="2212848"/>
            <a:ext cx="8668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Common: multi-tenant tagging (Client / Env / App) + OTel SDKs across both paths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840480" y="2368296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outbound only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562856" y="2468880"/>
            <a:ext cx="18288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 rot="10800000">
            <a:off x="4507992" y="2560320"/>
            <a:ext cx="128016" cy="82296"/>
          </a:xfrm>
          <a:prstGeom prst="triangl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64592" y="2523744"/>
            <a:ext cx="8814816" cy="237744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56032" y="2542032"/>
            <a:ext cx="201168" cy="201168"/>
          </a:xfrm>
          <a:prstGeom prst="ellipse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56032" y="2542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2C53"/>
                </a:solidFill>
              </a:rPr>
              <a:t>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30352" y="2523744"/>
            <a:ext cx="8357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ROUTING — CONTROL PLANE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64592" y="2761488"/>
            <a:ext cx="4361688" cy="694944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56032" y="2816352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PATH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256032" y="2962656"/>
            <a:ext cx="4178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Gateway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56032" y="3209544"/>
            <a:ext cx="954634" cy="192024"/>
          </a:xfrm>
          <a:prstGeom prst="roundRect">
            <a:avLst>
              <a:gd name="adj" fmla="val 47619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56032" y="3209544"/>
            <a:ext cx="95463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Gateway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265530" y="3209544"/>
            <a:ext cx="1217981" cy="192024"/>
          </a:xfrm>
          <a:prstGeom prst="roundRect">
            <a:avLst>
              <a:gd name="adj" fmla="val 47619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265530" y="3209544"/>
            <a:ext cx="121798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(optional)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572000" y="2761488"/>
            <a:ext cx="0" cy="694944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617720" y="2761488"/>
            <a:ext cx="4361688" cy="694944"/>
          </a:xfrm>
          <a:prstGeom prst="rect">
            <a:avLst/>
          </a:prstGeom>
          <a:solidFill>
            <a:srgbClr val="EEEDFE"/>
          </a:solidFill>
          <a:ln w="635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709160" y="2816352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PATH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709160" y="2962656"/>
            <a:ext cx="4178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Ingest (SaaS)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709160" y="3209544"/>
            <a:ext cx="757123" cy="192024"/>
          </a:xfrm>
          <a:prstGeom prst="roundRect">
            <a:avLst>
              <a:gd name="adj" fmla="val 4761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709160" y="3209544"/>
            <a:ext cx="75712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Ingest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521147" y="3209544"/>
            <a:ext cx="1217981" cy="192024"/>
          </a:xfrm>
          <a:prstGeom prst="roundRect">
            <a:avLst>
              <a:gd name="adj" fmla="val 4761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521147" y="3209544"/>
            <a:ext cx="121798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pipeline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237744" y="3474720"/>
            <a:ext cx="8668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enforced at this layer for both paths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562856" y="3630168"/>
            <a:ext cx="18288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 rot="10800000">
            <a:off x="4507992" y="3721608"/>
            <a:ext cx="128016" cy="82296"/>
          </a:xfrm>
          <a:prstGeom prst="triangl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64592" y="3767328"/>
            <a:ext cx="8814816" cy="237744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56032" y="3785616"/>
            <a:ext cx="201168" cy="201168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56032" y="3785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12402"/>
                </a:solidFill>
              </a:rPr>
              <a:t>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30352" y="3767328"/>
            <a:ext cx="8357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OBSERVABILITY PLATFORM — REAL-TIME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64592" y="4005072"/>
            <a:ext cx="4361688" cy="786384"/>
          </a:xfrm>
          <a:prstGeom prst="rect">
            <a:avLst/>
          </a:prstGeom>
          <a:solidFill>
            <a:srgbClr val="FAEEDA"/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256032" y="4059936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STACK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256032" y="4206240"/>
            <a:ext cx="4178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Mimir / Prometheus · Loki · Tempo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256032" y="4544568"/>
            <a:ext cx="1349654" cy="192024"/>
          </a:xfrm>
          <a:prstGeom prst="roundRect">
            <a:avLst>
              <a:gd name="adj" fmla="val 47619"/>
            </a:avLst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256032" y="4544568"/>
            <a:ext cx="13496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Mimir / Prometheus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660550" y="4544568"/>
            <a:ext cx="530352" cy="192024"/>
          </a:xfrm>
          <a:prstGeom prst="roundRect">
            <a:avLst>
              <a:gd name="adj" fmla="val 47619"/>
            </a:avLst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1660550" y="4544568"/>
            <a:ext cx="530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245766" y="4544568"/>
            <a:ext cx="530352" cy="192024"/>
          </a:xfrm>
          <a:prstGeom prst="roundRect">
            <a:avLst>
              <a:gd name="adj" fmla="val 47619"/>
            </a:avLst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245766" y="4544568"/>
            <a:ext cx="530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830982" y="4544568"/>
            <a:ext cx="954634" cy="192024"/>
          </a:xfrm>
          <a:prstGeom prst="roundRect">
            <a:avLst>
              <a:gd name="adj" fmla="val 47619"/>
            </a:avLst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2830982" y="4544568"/>
            <a:ext cx="95463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572000" y="4005072"/>
            <a:ext cx="0" cy="786384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4617720" y="4005072"/>
            <a:ext cx="4361688" cy="786384"/>
          </a:xfrm>
          <a:prstGeom prst="rect">
            <a:avLst/>
          </a:prstGeom>
          <a:solidFill>
            <a:srgbClr val="EEEDFE"/>
          </a:solidFill>
          <a:ln w="635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4709160" y="4059936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PLATFORM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4709160" y="4206240"/>
            <a:ext cx="4178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Metrics · DT Logs · Distributed Tracing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4709160" y="4544568"/>
            <a:ext cx="822960" cy="192024"/>
          </a:xfrm>
          <a:prstGeom prst="roundRect">
            <a:avLst>
              <a:gd name="adj" fmla="val 4761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4709160" y="4544568"/>
            <a:ext cx="822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Metrics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5586984" y="4544568"/>
            <a:ext cx="625450" cy="192024"/>
          </a:xfrm>
          <a:prstGeom prst="roundRect">
            <a:avLst>
              <a:gd name="adj" fmla="val 4761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5586984" y="4544568"/>
            <a:ext cx="62545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Logs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267298" y="4544568"/>
            <a:ext cx="1152144" cy="192024"/>
          </a:xfrm>
          <a:prstGeom prst="roundRect">
            <a:avLst>
              <a:gd name="adj" fmla="val 4761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6267298" y="4544568"/>
            <a:ext cx="1152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AI alerts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237744" y="4809744"/>
            <a:ext cx="8668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L2 monitoring &amp; incident response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r>
              <a:rPr lang="en-US" dirty="0"/>
              <a:t>0</a:t>
            </a: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— Visualisation, Data &amp; AI Observability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04b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475488"/>
            <a:ext cx="9144000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754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4–6  ·  See, investigate &amp; trace AI workloads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553212"/>
            <a:ext cx="118872" cy="118872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47872" y="493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path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85232" y="553212"/>
            <a:ext cx="118872" cy="118872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49824" y="493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path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87184" y="553212"/>
            <a:ext cx="118872" cy="118872"/>
          </a:xfrm>
          <a:prstGeom prst="ellipse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51776" y="493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/ common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44" y="5010910"/>
            <a:ext cx="9144000" cy="1325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5010910"/>
            <a:ext cx="8595360" cy="1325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·  Observability Centre of Excellence  ·  Confidential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822960"/>
            <a:ext cx="8814816" cy="237744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841248"/>
            <a:ext cx="201168" cy="201168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" y="841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342C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822960"/>
            <a:ext cx="8357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ACCESS — SINGLE PANE OF GLASS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" y="1060704"/>
            <a:ext cx="4361688" cy="868680"/>
          </a:xfrm>
          <a:prstGeom prst="rect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6032" y="1115568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PATH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56032" y="1261872"/>
            <a:ext cx="4178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" y="1481328"/>
            <a:ext cx="4178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SLOs, alert management, multi-tenant views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1682496"/>
            <a:ext cx="625450" cy="192024"/>
          </a:xfrm>
          <a:prstGeom prst="roundRect">
            <a:avLst>
              <a:gd name="adj" fmla="val 47619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6032" y="1682496"/>
            <a:ext cx="62545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36346" y="1682496"/>
            <a:ext cx="530352" cy="192024"/>
          </a:xfrm>
          <a:prstGeom prst="roundRect">
            <a:avLst>
              <a:gd name="adj" fmla="val 47619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36346" y="1682496"/>
            <a:ext cx="530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521562" y="1682496"/>
            <a:ext cx="691286" cy="192024"/>
          </a:xfrm>
          <a:prstGeom prst="roundRect">
            <a:avLst>
              <a:gd name="adj" fmla="val 47619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521562" y="1682496"/>
            <a:ext cx="6912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0" y="1060704"/>
            <a:ext cx="0" cy="86868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17720" y="1060704"/>
            <a:ext cx="4361688" cy="868680"/>
          </a:xfrm>
          <a:prstGeom prst="rect">
            <a:avLst/>
          </a:prstGeom>
          <a:solidFill>
            <a:srgbClr val="EEEDFE"/>
          </a:solidFill>
          <a:ln w="635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1115568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PATH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09160" y="1261872"/>
            <a:ext cx="4178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UI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1481328"/>
            <a:ext cx="4178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Davis AI insights, entity topology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1682496"/>
            <a:ext cx="530352" cy="192024"/>
          </a:xfrm>
          <a:prstGeom prst="roundRect">
            <a:avLst>
              <a:gd name="adj" fmla="val 4761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1682496"/>
            <a:ext cx="530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UI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294376" y="1682496"/>
            <a:ext cx="691286" cy="192024"/>
          </a:xfrm>
          <a:prstGeom prst="roundRect">
            <a:avLst>
              <a:gd name="adj" fmla="val 4761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294376" y="1682496"/>
            <a:ext cx="6912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40526" y="1682496"/>
            <a:ext cx="691286" cy="192024"/>
          </a:xfrm>
          <a:prstGeom prst="roundRect">
            <a:avLst>
              <a:gd name="adj" fmla="val 4761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40526" y="1682496"/>
            <a:ext cx="6912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62856" y="1965960"/>
            <a:ext cx="18288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 rot="10800000">
            <a:off x="4507992" y="2057400"/>
            <a:ext cx="128016" cy="82296"/>
          </a:xfrm>
          <a:prstGeom prst="triangl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64592" y="2148840"/>
            <a:ext cx="8814816" cy="237744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56032" y="2167128"/>
            <a:ext cx="201168" cy="201168"/>
          </a:xfrm>
          <a:prstGeom prst="ellipse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56032" y="2167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1B0C"/>
                </a:solidFill>
              </a:rPr>
              <a:t>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0352" y="2148840"/>
            <a:ext cx="8357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SPECIALIST OBSERVABILITY — L2 / L3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64592" y="2386584"/>
            <a:ext cx="2877312" cy="877824"/>
          </a:xfrm>
          <a:prstGeom prst="rect">
            <a:avLst/>
          </a:prstGeom>
          <a:solidFill>
            <a:srgbClr val="FAECE7"/>
          </a:solidFill>
          <a:ln w="6350">
            <a:solidFill>
              <a:srgbClr val="F5C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56032" y="2441448"/>
            <a:ext cx="2694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— BOTH PATHS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56032" y="2587752"/>
            <a:ext cx="2694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56032" y="2779776"/>
            <a:ext cx="2694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 for data observability signals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56032" y="3044952"/>
            <a:ext cx="738835" cy="182880"/>
          </a:xfrm>
          <a:prstGeom prst="roundRect">
            <a:avLst>
              <a:gd name="adj" fmla="val 50000"/>
            </a:avLst>
          </a:prstGeom>
          <a:solidFill>
            <a:srgbClr val="F5C4B3"/>
          </a:solidFill>
          <a:ln w="12700">
            <a:solidFill>
              <a:srgbClr val="F5C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56032" y="3044952"/>
            <a:ext cx="7388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049731" y="3044952"/>
            <a:ext cx="1068019" cy="182880"/>
          </a:xfrm>
          <a:prstGeom prst="roundRect">
            <a:avLst>
              <a:gd name="adj" fmla="val 50000"/>
            </a:avLst>
          </a:prstGeom>
          <a:solidFill>
            <a:srgbClr val="F5C4B3"/>
          </a:solidFill>
          <a:ln w="12700">
            <a:solidFill>
              <a:srgbClr val="F5C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049731" y="3044952"/>
            <a:ext cx="10680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ZZDB archiving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133344" y="2386584"/>
            <a:ext cx="2877312" cy="877824"/>
          </a:xfrm>
          <a:prstGeom prst="rect">
            <a:avLst/>
          </a:prstGeom>
          <a:solidFill>
            <a:srgbClr val="FAECE7"/>
          </a:solidFill>
          <a:ln w="6350">
            <a:solidFill>
              <a:srgbClr val="F5C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24784" y="2441448"/>
            <a:ext cx="2694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— BOTH PATHS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224784" y="2587752"/>
            <a:ext cx="2694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224784" y="2779776"/>
            <a:ext cx="2694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data investigation &amp; relationship analysis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24784" y="3044952"/>
            <a:ext cx="607162" cy="182880"/>
          </a:xfrm>
          <a:prstGeom prst="roundRect">
            <a:avLst>
              <a:gd name="adj" fmla="val 50000"/>
            </a:avLst>
          </a:prstGeom>
          <a:solidFill>
            <a:srgbClr val="F5C4B3"/>
          </a:solidFill>
          <a:ln w="12700">
            <a:solidFill>
              <a:srgbClr val="F5C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224784" y="3044952"/>
            <a:ext cx="6071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886810" y="3044952"/>
            <a:ext cx="870509" cy="182880"/>
          </a:xfrm>
          <a:prstGeom prst="roundRect">
            <a:avLst>
              <a:gd name="adj" fmla="val 50000"/>
            </a:avLst>
          </a:prstGeom>
          <a:solidFill>
            <a:srgbClr val="F5C4B3"/>
          </a:solidFill>
          <a:ln w="12700">
            <a:solidFill>
              <a:srgbClr val="F5C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886810" y="3044952"/>
            <a:ext cx="8705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102096" y="2386584"/>
            <a:ext cx="2877312" cy="877824"/>
          </a:xfrm>
          <a:prstGeom prst="rect">
            <a:avLst/>
          </a:prstGeom>
          <a:solidFill>
            <a:srgbClr val="EEEDFE"/>
          </a:solidFill>
          <a:ln w="635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193536" y="2441448"/>
            <a:ext cx="2694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ADD-ON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193536" y="2587752"/>
            <a:ext cx="2694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Workflows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193536" y="2779776"/>
            <a:ext cx="2694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extension, automated workflows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193536" y="3044952"/>
            <a:ext cx="936346" cy="182880"/>
          </a:xfrm>
          <a:prstGeom prst="roundRect">
            <a:avLst>
              <a:gd name="adj" fmla="val 50000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193536" y="3044952"/>
            <a:ext cx="9363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Extension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184746" y="3044952"/>
            <a:ext cx="738835" cy="182880"/>
          </a:xfrm>
          <a:prstGeom prst="roundRect">
            <a:avLst>
              <a:gd name="adj" fmla="val 50000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184746" y="3044952"/>
            <a:ext cx="7388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237744" y="3282696"/>
            <a:ext cx="8668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/ L3 data engineering &amp; analysis — integrated via Snowflake, not duplicated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562856" y="3483864"/>
            <a:ext cx="18288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 rot="10800000">
            <a:off x="4507992" y="3575304"/>
            <a:ext cx="128016" cy="82296"/>
          </a:xfrm>
          <a:prstGeom prst="triangl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64592" y="3666744"/>
            <a:ext cx="8814816" cy="237744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256032" y="3685032"/>
            <a:ext cx="201168" cy="201168"/>
          </a:xfrm>
          <a:prstGeom prst="ellipse">
            <a:avLst/>
          </a:prstGeom>
          <a:solidFill>
            <a:srgbClr val="AFA9EC"/>
          </a:solidFill>
          <a:ln w="1270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256032" y="3685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215C"/>
                </a:solidFill>
              </a:rPr>
              <a:t>6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30352" y="3666744"/>
            <a:ext cx="8357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NEXT-GEN OBSERVABILITY — EMERGING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64592" y="3904488"/>
            <a:ext cx="4361688" cy="868680"/>
          </a:xfrm>
          <a:prstGeom prst="rect">
            <a:avLst/>
          </a:prstGeom>
          <a:solidFill>
            <a:srgbClr val="EEEDFE"/>
          </a:solidFill>
          <a:ln w="635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56032" y="3959352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PATH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256032" y="4105656"/>
            <a:ext cx="4178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+ OTel extensions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256032" y="4325112"/>
            <a:ext cx="4178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tracing, prompt &amp; agent observability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56032" y="4526280"/>
            <a:ext cx="691286" cy="192024"/>
          </a:xfrm>
          <a:prstGeom prst="roundRect">
            <a:avLst>
              <a:gd name="adj" fmla="val 4761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56032" y="4526280"/>
            <a:ext cx="6912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002182" y="4526280"/>
            <a:ext cx="1152144" cy="192024"/>
          </a:xfrm>
          <a:prstGeom prst="roundRect">
            <a:avLst>
              <a:gd name="adj" fmla="val 4761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1002182" y="4526280"/>
            <a:ext cx="1152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extensions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209190" y="4526280"/>
            <a:ext cx="1020470" cy="192024"/>
          </a:xfrm>
          <a:prstGeom prst="roundRect">
            <a:avLst>
              <a:gd name="adj" fmla="val 47619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2209190" y="4526280"/>
            <a:ext cx="10204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tracing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572000" y="3904488"/>
            <a:ext cx="0" cy="86868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4617720" y="3904488"/>
            <a:ext cx="4361688" cy="868680"/>
          </a:xfrm>
          <a:prstGeom prst="rect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709160" y="3959352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PATH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4709160" y="4105656"/>
            <a:ext cx="4178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GenAI Observability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4709160" y="4325112"/>
            <a:ext cx="4178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capabilities for LLM &amp; agentic systems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709160" y="4526280"/>
            <a:ext cx="691286" cy="192024"/>
          </a:xfrm>
          <a:prstGeom prst="roundRect">
            <a:avLst>
              <a:gd name="adj" fmla="val 47619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4709160" y="4526280"/>
            <a:ext cx="6912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GenAI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5455310" y="4526280"/>
            <a:ext cx="888797" cy="192024"/>
          </a:xfrm>
          <a:prstGeom prst="roundRect">
            <a:avLst>
              <a:gd name="adj" fmla="val 47619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5455310" y="4526280"/>
            <a:ext cx="88879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Tracing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237744" y="4791456"/>
            <a:ext cx="8668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token, and agent observability — future-ready for LLM &amp; agentic workloads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Head-to-Head Comparison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34640" y="640080"/>
            <a:ext cx="2697480" cy="38404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834640" y="6400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0" y="640080"/>
            <a:ext cx="2697480" cy="384048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0" y="6400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078992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implementation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34640" y="1097280"/>
            <a:ext cx="2697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07792" y="1170432"/>
            <a:ext cx="1371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07792" y="1170432"/>
            <a:ext cx="548640" cy="109728"/>
          </a:xfrm>
          <a:prstGeom prst="rect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15968" y="11155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07792" y="131673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setup effort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69280" y="1097280"/>
            <a:ext cx="2697480" cy="402336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42432" y="1170432"/>
            <a:ext cx="1371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42432" y="1170432"/>
            <a:ext cx="1234440" cy="10972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50608" y="11155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4.5/5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42432" y="131673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days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1554480"/>
            <a:ext cx="86868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team fit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834640" y="1572768"/>
            <a:ext cx="26974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07792" y="1645920"/>
            <a:ext cx="1371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907792" y="1645920"/>
            <a:ext cx="411480" cy="109728"/>
          </a:xfrm>
          <a:prstGeom prst="rect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15968" y="15910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1.5/5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07792" y="179222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expertise needed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69280" y="1572768"/>
            <a:ext cx="2697480" cy="402336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42432" y="1645920"/>
            <a:ext cx="1371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742432" y="1645920"/>
            <a:ext cx="1097280" cy="10972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50608" y="15910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742432" y="179222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engineers can operate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2029968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0040" y="20482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ownership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834640" y="2048256"/>
            <a:ext cx="2697480" cy="402336"/>
          </a:xfrm>
          <a:prstGeom prst="rect">
            <a:avLst/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907792" y="2121408"/>
            <a:ext cx="1371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907792" y="2121408"/>
            <a:ext cx="822960" cy="109728"/>
          </a:xfrm>
          <a:prstGeom prst="rect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315968" y="20665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907792" y="22677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licence, people cost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69280" y="2048256"/>
            <a:ext cx="2697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742432" y="2121408"/>
            <a:ext cx="1371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742432" y="2121408"/>
            <a:ext cx="685800" cy="10972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50608" y="20665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2.5/5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742432" y="22677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premium pricing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28600" y="2505456"/>
            <a:ext cx="86868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0040" y="25237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maintenance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834640" y="2523744"/>
            <a:ext cx="26974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907792" y="2596896"/>
            <a:ext cx="1371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907792" y="2596896"/>
            <a:ext cx="411480" cy="109728"/>
          </a:xfrm>
          <a:prstGeom prst="rect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315968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1.5/5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907792" y="27432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upgrade cycles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669280" y="2523744"/>
            <a:ext cx="2697480" cy="402336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742432" y="2596896"/>
            <a:ext cx="1371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742432" y="2596896"/>
            <a:ext cx="1234440" cy="10972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150608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4.5/5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742432" y="27432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Vendor-managed SaaS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28600" y="2980944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20040" y="2999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alerting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834640" y="2999232"/>
            <a:ext cx="2697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907792" y="3072384"/>
            <a:ext cx="1371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907792" y="3072384"/>
            <a:ext cx="548640" cy="109728"/>
          </a:xfrm>
          <a:prstGeom prst="rect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315968" y="3017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2907792" y="32186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rule authoring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669280" y="2999232"/>
            <a:ext cx="2697480" cy="402336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742432" y="3072384"/>
            <a:ext cx="1371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742432" y="3072384"/>
            <a:ext cx="1234440" cy="10972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150608" y="3017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4.5/5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742432" y="32186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AI — noise suppression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28600" y="3456432"/>
            <a:ext cx="86868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2004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risk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2834640" y="3474720"/>
            <a:ext cx="2697480" cy="402336"/>
          </a:xfrm>
          <a:prstGeom prst="rect">
            <a:avLst/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907792" y="3547872"/>
            <a:ext cx="1371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907792" y="3547872"/>
            <a:ext cx="1371600" cy="109728"/>
          </a:xfrm>
          <a:prstGeom prst="rect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315968" y="34930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2907792" y="36941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open standards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669280" y="3474720"/>
            <a:ext cx="26974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5742432" y="3547872"/>
            <a:ext cx="1371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5742432" y="3547872"/>
            <a:ext cx="548640" cy="10972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7150608" y="34930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742432" y="36941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proprietary dependency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28600" y="3931920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20040" y="3950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flexibility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2834640" y="3950208"/>
            <a:ext cx="2697480" cy="402336"/>
          </a:xfrm>
          <a:prstGeom prst="rect">
            <a:avLst/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907792" y="4023360"/>
            <a:ext cx="1371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2907792" y="4023360"/>
            <a:ext cx="1371600" cy="109728"/>
          </a:xfrm>
          <a:prstGeom prst="rect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315968" y="396849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2907792" y="416966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composable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669280" y="3950208"/>
            <a:ext cx="2697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5742432" y="4023360"/>
            <a:ext cx="1371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5742432" y="4023360"/>
            <a:ext cx="822960" cy="10972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7150608" y="396849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5742432" y="416966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Roadmap-dependent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228600" y="4407408"/>
            <a:ext cx="86868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320040" y="44256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observability depth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2834640" y="4425696"/>
            <a:ext cx="2697480" cy="402336"/>
          </a:xfrm>
          <a:prstGeom prst="rect">
            <a:avLst/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907792" y="4498848"/>
            <a:ext cx="1371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2907792" y="4498848"/>
            <a:ext cx="1097280" cy="109728"/>
          </a:xfrm>
          <a:prstGeom prst="rect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4315968" y="44439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2907792" y="46451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Snowflake + Observe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5669280" y="4425696"/>
            <a:ext cx="26974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5742432" y="4498848"/>
            <a:ext cx="1371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5742432" y="4498848"/>
            <a:ext cx="685800" cy="10972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150608" y="44439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2.5/5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5742432" y="46451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required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2834640" y="4773168"/>
            <a:ext cx="2697480" cy="25603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2834640" y="47731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on 4 of 8 dimensions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5669280" y="4773168"/>
            <a:ext cx="2697480" cy="25603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5669280" y="47731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on 4 of 8 dimensions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6831CC-2507-574F-ADA5-38695B3F0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D6565D-FEE5-69D8-D5BF-131DDBCEBACF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93A1D2-4B34-92F5-65B2-B17424D657A3}"/>
              </a:ext>
            </a:extLst>
          </p:cNvPr>
          <p:cNvSpPr/>
          <p:nvPr/>
        </p:nvSpPr>
        <p:spPr>
          <a:xfrm>
            <a:off x="365760" y="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Head-to-Head Comparison in detail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AA8F17-2410-D732-D004-EA880FD4E5AC}"/>
              </a:ext>
            </a:extLst>
          </p:cNvPr>
          <p:cNvSpPr/>
          <p:nvPr/>
        </p:nvSpPr>
        <p:spPr>
          <a:xfrm>
            <a:off x="8046720" y="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</a:rPr>
              <a:t>06a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DB064EA-A270-F1D1-6364-3ECC1D5E2C02}"/>
              </a:ext>
            </a:extLst>
          </p:cNvPr>
          <p:cNvSpPr/>
          <p:nvPr/>
        </p:nvSpPr>
        <p:spPr>
          <a:xfrm>
            <a:off x="5669280" y="6400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11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46F0595-2F90-3E4E-5A11-FACC301A7967}"/>
              </a:ext>
            </a:extLst>
          </p:cNvPr>
          <p:cNvSpPr txBox="1"/>
          <p:nvPr/>
        </p:nvSpPr>
        <p:spPr>
          <a:xfrm>
            <a:off x="181029" y="832104"/>
            <a:ext cx="8688651" cy="4197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326ECF8E-AE73-2210-BFDD-A02244207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928" y="725776"/>
            <a:ext cx="6824272" cy="428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50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17FCE3-BEDF-91AE-593E-3D246DB2F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37C337-3469-0DEB-D733-B4D2CDCCD7CF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0A47EE-C1D3-F53C-8615-AAD0A5A90118}"/>
              </a:ext>
            </a:extLst>
          </p:cNvPr>
          <p:cNvSpPr/>
          <p:nvPr/>
        </p:nvSpPr>
        <p:spPr>
          <a:xfrm>
            <a:off x="365760" y="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Head-to-Head Comparison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6FC438B-0528-0632-A7AD-76457B0CDB62}"/>
              </a:ext>
            </a:extLst>
          </p:cNvPr>
          <p:cNvSpPr/>
          <p:nvPr/>
        </p:nvSpPr>
        <p:spPr>
          <a:xfrm>
            <a:off x="8046720" y="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06b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79B8A65-439E-9C53-2977-FC6BC5C86C41}"/>
              </a:ext>
            </a:extLst>
          </p:cNvPr>
          <p:cNvSpPr/>
          <p:nvPr/>
        </p:nvSpPr>
        <p:spPr>
          <a:xfrm>
            <a:off x="5669280" y="6400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11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98AF820-2159-CB6D-4B07-CB260E42F2BB}"/>
              </a:ext>
            </a:extLst>
          </p:cNvPr>
          <p:cNvSpPr txBox="1"/>
          <p:nvPr/>
        </p:nvSpPr>
        <p:spPr>
          <a:xfrm>
            <a:off x="181029" y="832104"/>
            <a:ext cx="8688651" cy="4197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FDEBF5-2C64-62DC-BFC6-F13BFE4B6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917" y="640080"/>
            <a:ext cx="6042886" cy="450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04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3EDE1-C035-1EB9-8C97-FF6AB0A05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65863F-4E12-909E-C9CA-F34F154A4DB2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8B0023-531D-9D00-B748-371A0CC86F30}"/>
              </a:ext>
            </a:extLst>
          </p:cNvPr>
          <p:cNvSpPr/>
          <p:nvPr/>
        </p:nvSpPr>
        <p:spPr>
          <a:xfrm>
            <a:off x="365760" y="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Head-to-Head Comparison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FB4A3F-87FA-23DF-FF68-E05374BBD7BD}"/>
              </a:ext>
            </a:extLst>
          </p:cNvPr>
          <p:cNvSpPr/>
          <p:nvPr/>
        </p:nvSpPr>
        <p:spPr>
          <a:xfrm>
            <a:off x="8046720" y="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06c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2FBD842-2403-B93C-AC2F-1ABA94724E0D}"/>
              </a:ext>
            </a:extLst>
          </p:cNvPr>
          <p:cNvSpPr/>
          <p:nvPr/>
        </p:nvSpPr>
        <p:spPr>
          <a:xfrm>
            <a:off x="5669280" y="6400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11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698A11B-7528-C93E-FCBA-95210ED2FCE0}"/>
              </a:ext>
            </a:extLst>
          </p:cNvPr>
          <p:cNvSpPr txBox="1"/>
          <p:nvPr/>
        </p:nvSpPr>
        <p:spPr>
          <a:xfrm>
            <a:off x="181029" y="832104"/>
            <a:ext cx="8688651" cy="4197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4682A-4B09-797B-0934-7DC372209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091" y="640080"/>
            <a:ext cx="6480970" cy="450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340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Differentiators — What Really Matters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4206240" cy="54864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9611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8412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to value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886968"/>
            <a:ext cx="1005840" cy="237744"/>
          </a:xfrm>
          <a:prstGeom prst="rect">
            <a:avLst/>
          </a:prstGeom>
          <a:solidFill>
            <a:srgbClr val="EEEDFE"/>
          </a:solidFill>
          <a:ln w="12700">
            <a:solidFill>
              <a:srgbClr val="3C34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91840" y="886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leads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1480" y="1280160"/>
            <a:ext cx="640080" cy="201168"/>
          </a:xfrm>
          <a:prstGeom prst="rect">
            <a:avLst/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1480" y="12801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11480" y="14996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 to full deployment. Requires experienced platform engineers for each tool.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1938528"/>
            <a:ext cx="640080" cy="201168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11480" y="1938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11480" y="2167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weeks. OneAgent auto-discovers everything. Managed SaaS means no infra to build.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09160" y="7315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09160" y="731520"/>
            <a:ext cx="4206240" cy="54864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896112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57800" y="8412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 team operations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726680" y="886968"/>
            <a:ext cx="1005840" cy="237744"/>
          </a:xfrm>
          <a:prstGeom prst="rect">
            <a:avLst/>
          </a:prstGeom>
          <a:solidFill>
            <a:srgbClr val="EEEDFE"/>
          </a:solidFill>
          <a:ln w="12700">
            <a:solidFill>
              <a:srgbClr val="3C34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726680" y="886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leads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846320" y="1280160"/>
            <a:ext cx="640080" cy="201168"/>
          </a:xfrm>
          <a:prstGeom prst="rect">
            <a:avLst/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846320" y="12801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846320" y="14996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knowledge burden per engineer. Each tool has its own upgrade cadence and tuning needs.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846320" y="1938528"/>
            <a:ext cx="640080" cy="201168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846320" y="1938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4846320" y="2167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handles upgrades, scaling and availability. Teams focus on config, not infrastructure.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274320" y="28346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274320" y="2834640"/>
            <a:ext cx="4206240" cy="54864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999232"/>
            <a:ext cx="320040" cy="32004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22960" y="29443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independence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3291840" y="2990088"/>
            <a:ext cx="1005840" cy="237744"/>
          </a:xfrm>
          <a:prstGeom prst="rect">
            <a:avLst/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3291840" y="29900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leads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11480" y="3383280"/>
            <a:ext cx="640080" cy="201168"/>
          </a:xfrm>
          <a:prstGeom prst="rect">
            <a:avLst/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411480" y="33832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411480" y="36027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 standards. Swap any component, change cloud providers, exit anytime at zero cost.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411480" y="4041648"/>
            <a:ext cx="640080" cy="201168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411480" y="40416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41148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AI and Smartscape are proprietary. Re-migration requires significant re-instrumentation.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4709160" y="28346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4709160" y="2834640"/>
            <a:ext cx="4206240" cy="54864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999232"/>
            <a:ext cx="320040" cy="32004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5257800" y="29443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AI observability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7726680" y="2990088"/>
            <a:ext cx="1005840" cy="237744"/>
          </a:xfrm>
          <a:prstGeom prst="rect">
            <a:avLst/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7726680" y="29900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leads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4846320" y="3383280"/>
            <a:ext cx="640080" cy="201168"/>
          </a:xfrm>
          <a:prstGeom prst="rect">
            <a:avLst/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4846320" y="33832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4846320" y="36027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Snowflake + Observe integration. Best-in-class for data pipeline and LLM tracing via Langfuse.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4846320" y="4041648"/>
            <a:ext cx="640080" cy="201168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/>
          <p:nvPr/>
        </p:nvSpPr>
        <p:spPr>
          <a:xfrm>
            <a:off x="4846320" y="40416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800" dirty="0"/>
          </a:p>
        </p:txBody>
      </p:sp>
      <p:sp>
        <p:nvSpPr>
          <p:cNvPr id="52" name="Text 46"/>
          <p:cNvSpPr/>
          <p:nvPr/>
        </p:nvSpPr>
        <p:spPr>
          <a:xfrm>
            <a:off x="484632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extension available but bolt-on. GenAI observability emerging — tied to DT roadmap.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1039</Words>
  <Application>Microsoft Macintosh PowerPoint</Application>
  <PresentationFormat>On-screen Show (16:9)</PresentationFormat>
  <Paragraphs>277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Observability Platform — Executive Briefing</dc:title>
  <dc:subject>PptxGenJS Presentation</dc:subject>
  <dc:creator>PptxGenJS</dc:creator>
  <cp:lastModifiedBy>Kiran Surya</cp:lastModifiedBy>
  <cp:revision>3</cp:revision>
  <dcterms:created xsi:type="dcterms:W3CDTF">2026-04-13T10:26:25Z</dcterms:created>
  <dcterms:modified xsi:type="dcterms:W3CDTF">2026-04-13T11:49:04Z</dcterms:modified>
</cp:coreProperties>
</file>