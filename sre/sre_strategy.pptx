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19"/>
    <p:restoredTop sz="94610"/>
  </p:normalViewPr>
  <p:slideViewPr>
    <p:cSldViewPr snapToGrid="0" snapToObjects="1">
      <p:cViewPr varScale="1">
        <p:scale>
          <a:sx n="198" d="100"/>
          <a:sy n="198" d="100"/>
        </p:scale>
        <p:origin x="184" y="1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5584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2920"/>
            <a:ext cx="914400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ENABLEMENT STRATEGY  ·  MAKING SRE REAL ACROSS TEAMS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98348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Enablement Strategy  ·  Confidential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21792"/>
            <a:ext cx="841248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2800" b="1" dirty="0">
                <a:solidFill>
                  <a:srgbClr val="1F3864"/>
                </a:solidFill>
                <a:latin typeface="Calibri" pitchFamily="34" charset="0"/>
                <a:cs typeface="Calibri" pitchFamily="34" charset="-120"/>
              </a:rPr>
              <a:t>Operationalising the Existing SRE Practice Across Teams</a:t>
            </a:r>
            <a:endParaRPr lang="en-US" sz="2800" b="1" dirty="0">
              <a:solidFill>
                <a:srgbClr val="1F3864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65760" y="1178000"/>
            <a:ext cx="8412480" cy="2286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260000"/>
            <a:ext cx="8412480" cy="310896"/>
          </a:xfrm>
          <a:prstGeom prst="rect">
            <a:avLst/>
          </a:prstGeom>
          <a:solidFill>
            <a:srgbClr val="EEF2F7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296000"/>
            <a:ext cx="82296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job is not transformation — it is enablement and scaling. We make SRE real across independent teams without forcing change.</a:t>
            </a:r>
            <a:endParaRPr lang="en-US" sz="1000" dirty="0"/>
          </a:p>
        </p:txBody>
      </p:sp>
      <p:sp>
        <p:nvSpPr>
          <p:cNvPr id="20" name="ColBg0"/>
          <p:cNvSpPr/>
          <p:nvPr/>
        </p:nvSpPr>
        <p:spPr>
          <a:xfrm>
            <a:off x="365760" y="1650000"/>
            <a:ext cx="1640000" cy="1200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ColTitle0"/>
          <p:cNvSpPr/>
          <p:nvPr/>
        </p:nvSpPr>
        <p:spPr>
          <a:xfrm>
            <a:off x="415760" y="1690000"/>
            <a:ext cx="154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Define</a:t>
            </a:r>
            <a:endParaRPr lang="en-US" sz="1000" dirty="0"/>
          </a:p>
        </p:txBody>
      </p:sp>
      <p:sp>
        <p:nvSpPr>
          <p:cNvPr id="22" name="ColDesc0"/>
          <p:cNvSpPr/>
          <p:nvPr/>
        </p:nvSpPr>
        <p:spPr>
          <a:xfrm>
            <a:off x="415760" y="1910000"/>
            <a:ext cx="1540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· SLO frameworks · Best practices</a:t>
            </a:r>
            <a:endParaRPr lang="en-US" sz="1000" dirty="0"/>
          </a:p>
        </p:txBody>
      </p:sp>
      <p:sp>
        <p:nvSpPr>
          <p:cNvPr id="24" name="ColBg1"/>
          <p:cNvSpPr/>
          <p:nvPr/>
        </p:nvSpPr>
        <p:spPr>
          <a:xfrm>
            <a:off x="2095760" y="1650000"/>
            <a:ext cx="1640000" cy="12000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ColTitle1"/>
          <p:cNvSpPr/>
          <p:nvPr/>
        </p:nvSpPr>
        <p:spPr>
          <a:xfrm>
            <a:off x="2145760" y="1690000"/>
            <a:ext cx="154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Assess</a:t>
            </a:r>
            <a:endParaRPr lang="en-US" sz="1000" dirty="0"/>
          </a:p>
        </p:txBody>
      </p:sp>
      <p:sp>
        <p:nvSpPr>
          <p:cNvPr id="26" name="ColDesc1"/>
          <p:cNvSpPr/>
          <p:nvPr/>
        </p:nvSpPr>
        <p:spPr>
          <a:xfrm>
            <a:off x="2145760" y="1910000"/>
            <a:ext cx="1540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baselines · Scorecards per team</a:t>
            </a:r>
            <a:endParaRPr lang="en-US" sz="1000" dirty="0"/>
          </a:p>
        </p:txBody>
      </p:sp>
      <p:sp>
        <p:nvSpPr>
          <p:cNvPr id="28" name="ColBg2"/>
          <p:cNvSpPr/>
          <p:nvPr/>
        </p:nvSpPr>
        <p:spPr>
          <a:xfrm>
            <a:off x="3825760" y="1650000"/>
            <a:ext cx="1640000" cy="120000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ColTitle2"/>
          <p:cNvSpPr/>
          <p:nvPr/>
        </p:nvSpPr>
        <p:spPr>
          <a:xfrm>
            <a:off x="3875760" y="1690000"/>
            <a:ext cx="154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Enable</a:t>
            </a:r>
            <a:endParaRPr lang="en-US" sz="1000" dirty="0"/>
          </a:p>
        </p:txBody>
      </p:sp>
      <p:sp>
        <p:nvSpPr>
          <p:cNvPr id="30" name="ColDesc2"/>
          <p:cNvSpPr/>
          <p:nvPr/>
        </p:nvSpPr>
        <p:spPr>
          <a:xfrm>
            <a:off x="3875760" y="1910000"/>
            <a:ext cx="1540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SREs · Coaching · Templates</a:t>
            </a:r>
            <a:endParaRPr lang="en-US" sz="1000" dirty="0"/>
          </a:p>
        </p:txBody>
      </p:sp>
      <p:sp>
        <p:nvSpPr>
          <p:cNvPr id="32" name="ColBg3"/>
          <p:cNvSpPr/>
          <p:nvPr/>
        </p:nvSpPr>
        <p:spPr>
          <a:xfrm>
            <a:off x="5555760" y="1650000"/>
            <a:ext cx="1640000" cy="12000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ColTitle3"/>
          <p:cNvSpPr/>
          <p:nvPr/>
        </p:nvSpPr>
        <p:spPr>
          <a:xfrm>
            <a:off x="5605760" y="1690000"/>
            <a:ext cx="154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Improve</a:t>
            </a:r>
            <a:endParaRPr lang="en-US" sz="1000" dirty="0"/>
          </a:p>
        </p:txBody>
      </p:sp>
      <p:sp>
        <p:nvSpPr>
          <p:cNvPr id="34" name="ColDesc3"/>
          <p:cNvSpPr/>
          <p:nvPr/>
        </p:nvSpPr>
        <p:spPr>
          <a:xfrm>
            <a:off x="5605760" y="1910000"/>
            <a:ext cx="1540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backlog · Toil reduction · Observability</a:t>
            </a:r>
            <a:endParaRPr lang="en-US" sz="1000" dirty="0"/>
          </a:p>
        </p:txBody>
      </p:sp>
      <p:sp>
        <p:nvSpPr>
          <p:cNvPr id="36" name="ColBg4"/>
          <p:cNvSpPr/>
          <p:nvPr/>
        </p:nvSpPr>
        <p:spPr>
          <a:xfrm>
            <a:off x="7285760" y="1650000"/>
            <a:ext cx="1640000" cy="1200000"/>
          </a:xfrm>
          <a:prstGeom prst="rect">
            <a:avLst/>
          </a:prstGeom>
          <a:solidFill>
            <a:srgbClr val="7F6000"/>
          </a:solidFill>
          <a:ln w="12700">
            <a:solidFill>
              <a:srgbClr val="7F6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ColTitle4"/>
          <p:cNvSpPr/>
          <p:nvPr/>
        </p:nvSpPr>
        <p:spPr>
          <a:xfrm>
            <a:off x="7335760" y="1690000"/>
            <a:ext cx="154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Govern</a:t>
            </a:r>
            <a:endParaRPr lang="en-US" sz="1000" dirty="0"/>
          </a:p>
        </p:txBody>
      </p:sp>
      <p:sp>
        <p:nvSpPr>
          <p:cNvPr id="38" name="ColDesc4"/>
          <p:cNvSpPr/>
          <p:nvPr/>
        </p:nvSpPr>
        <p:spPr>
          <a:xfrm>
            <a:off x="7335760" y="1910000"/>
            <a:ext cx="1540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tracking · Report to leadership</a:t>
            </a:r>
            <a:endParaRPr lang="en-US" sz="1000" dirty="0"/>
          </a:p>
        </p:txBody>
      </p:sp>
      <p:sp>
        <p:nvSpPr>
          <p:cNvPr id="50" name="QuoteBg"/>
          <p:cNvSpPr/>
          <p:nvPr/>
        </p:nvSpPr>
        <p:spPr>
          <a:xfrm>
            <a:off x="365760" y="2960000"/>
            <a:ext cx="8412480" cy="40233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QuoteTxt"/>
          <p:cNvSpPr/>
          <p:nvPr/>
        </p:nvSpPr>
        <p:spPr>
          <a:xfrm>
            <a:off x="502920" y="29960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are not here to define SRE. We are here to make SRE work in reality across teams."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2920"/>
            <a:ext cx="914400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 ·  THE REAL MISSION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98348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Enablement Strategy  ·  Confidential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217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Reframing the Problem —</a:t>
            </a:r>
            <a:r>
              <a:rPr lang="en-US" sz="2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Our Actual Mission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078992"/>
            <a:ext cx="8412480" cy="2286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eftHdr"/>
          <p:cNvSpPr/>
          <p:nvPr/>
        </p:nvSpPr>
        <p:spPr>
          <a:xfrm>
            <a:off x="365760" y="1170000"/>
            <a:ext cx="3900000" cy="2800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eftHdrTxt"/>
          <p:cNvSpPr/>
          <p:nvPr/>
        </p:nvSpPr>
        <p:spPr>
          <a:xfrm>
            <a:off x="420000" y="1200000"/>
            <a:ext cx="379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</a:t>
            </a:r>
            <a:r>
              <a:rPr lang="en-GB" sz="12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The Question We Need to Solve</a:t>
            </a:r>
            <a:endParaRPr lang="en-US" sz="1200" b="1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12" name="LeftBox"/>
          <p:cNvSpPr/>
          <p:nvPr/>
        </p:nvSpPr>
        <p:spPr>
          <a:xfrm>
            <a:off x="365760" y="1470000"/>
            <a:ext cx="3900000" cy="1200000"/>
          </a:xfrm>
          <a:prstGeom prst="rect">
            <a:avLst/>
          </a:prstGeom>
          <a:solidFill>
            <a:srgbClr val="FCE4D6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eftTxt"/>
          <p:cNvSpPr/>
          <p:nvPr/>
        </p:nvSpPr>
        <p:spPr>
          <a:xfrm>
            <a:off x="420000" y="1490000"/>
            <a:ext cx="3790000" cy="1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 we implement SRE?"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framework rollout · Top-down compliance · Central SRE doing everything</a:t>
            </a:r>
            <a:endParaRPr lang="en-US" sz="1000" dirty="0"/>
          </a:p>
        </p:txBody>
      </p:sp>
      <p:sp>
        <p:nvSpPr>
          <p:cNvPr id="14" name="RightHdr"/>
          <p:cNvSpPr/>
          <p:nvPr/>
        </p:nvSpPr>
        <p:spPr>
          <a:xfrm>
            <a:off x="4778000" y="1170000"/>
            <a:ext cx="4000000" cy="28000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ightHdrTxt"/>
          <p:cNvSpPr/>
          <p:nvPr/>
        </p:nvSpPr>
        <p:spPr>
          <a:xfrm>
            <a:off x="4830000" y="1200000"/>
            <a:ext cx="39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Our Practical Mission</a:t>
            </a:r>
            <a:endParaRPr lang="en-US" sz="1000" dirty="0"/>
          </a:p>
        </p:txBody>
      </p:sp>
      <p:sp>
        <p:nvSpPr>
          <p:cNvPr id="16" name="RightBox"/>
          <p:cNvSpPr/>
          <p:nvPr/>
        </p:nvSpPr>
        <p:spPr>
          <a:xfrm>
            <a:off x="4778000" y="1470000"/>
            <a:ext cx="4000000" cy="1200000"/>
          </a:xfrm>
          <a:prstGeom prst="rect">
            <a:avLst/>
          </a:prstGeom>
          <a:solidFill>
            <a:srgbClr val="E2EFDA"/>
          </a:solidFill>
          <a:ln w="1270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ightTxt"/>
          <p:cNvSpPr/>
          <p:nvPr/>
        </p:nvSpPr>
        <p:spPr>
          <a:xfrm>
            <a:off x="4830000" y="1490000"/>
            <a:ext cx="3900000" cy="1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 we make SRE real across multiple independent teams without forcing change?"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own reliability · We enable, standardise, and accelerate · Progressive adoption</a:t>
            </a:r>
            <a:endParaRPr lang="en-US" sz="1000" dirty="0"/>
          </a:p>
        </p:txBody>
      </p:sp>
      <p:sp>
        <p:nvSpPr>
          <p:cNvPr id="20" name="Sep2"/>
          <p:cNvSpPr/>
          <p:nvPr/>
        </p:nvSpPr>
        <p:spPr>
          <a:xfrm>
            <a:off x="365760" y="2780000"/>
            <a:ext cx="8412480" cy="2286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ubHdr"/>
          <p:cNvSpPr/>
          <p:nvPr/>
        </p:nvSpPr>
        <p:spPr>
          <a:xfrm>
            <a:off x="365760" y="2830000"/>
            <a:ext cx="841248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POSITIONING</a:t>
            </a:r>
            <a:endParaRPr lang="en-US" sz="1000" dirty="0"/>
          </a:p>
        </p:txBody>
      </p:sp>
      <p:sp>
        <p:nvSpPr>
          <p:cNvPr id="22" name="PosBox"/>
          <p:cNvSpPr/>
          <p:nvPr/>
        </p:nvSpPr>
        <p:spPr>
          <a:xfrm>
            <a:off x="365760" y="3040000"/>
            <a:ext cx="8412480" cy="380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PosTxt"/>
          <p:cNvSpPr/>
          <p:nvPr/>
        </p:nvSpPr>
        <p:spPr>
          <a:xfrm>
            <a:off x="502920" y="3076000"/>
            <a:ext cx="8229600" cy="3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Enablement + Governance + Acceleration Layer</a:t>
            </a:r>
            <a:r>
              <a:rPr lang="en-US" sz="1100" i="1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teams own reliability; we enable, standardise, and accelerate</a:t>
            </a:r>
            <a:endParaRPr lang="en-US" sz="1000" dirty="0"/>
          </a:p>
        </p:txBody>
      </p:sp>
      <p:sp>
        <p:nvSpPr>
          <p:cNvPr id="30" name="Pr0"/>
          <p:cNvSpPr/>
          <p:nvPr/>
        </p:nvSpPr>
        <p:spPr>
          <a:xfrm>
            <a:off x="365760" y="3520000"/>
            <a:ext cx="2800000" cy="260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PrTitle0"/>
          <p:cNvSpPr/>
          <p:nvPr/>
        </p:nvSpPr>
        <p:spPr>
          <a:xfrm>
            <a:off x="425760" y="3546000"/>
            <a:ext cx="268000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Standard Setters</a:t>
            </a:r>
            <a:endParaRPr lang="en-US" sz="1000" dirty="0"/>
          </a:p>
        </p:txBody>
      </p:sp>
      <p:sp>
        <p:nvSpPr>
          <p:cNvPr id="32" name="PrBox0"/>
          <p:cNvSpPr/>
          <p:nvPr/>
        </p:nvSpPr>
        <p:spPr>
          <a:xfrm>
            <a:off x="365760" y="3790000"/>
            <a:ext cx="2800000" cy="300000"/>
          </a:xfrm>
          <a:prstGeom prst="rect">
            <a:avLst/>
          </a:prstGeom>
          <a:solidFill>
            <a:srgbClr val="EEF2F7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PrDesc0"/>
          <p:cNvSpPr/>
          <p:nvPr/>
        </p:nvSpPr>
        <p:spPr>
          <a:xfrm>
            <a:off x="425760" y="3810000"/>
            <a:ext cx="268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SLO frameworks, policies, and best-practice standards</a:t>
            </a:r>
            <a:endParaRPr lang="en-US" sz="1000" dirty="0"/>
          </a:p>
        </p:txBody>
      </p:sp>
      <p:sp>
        <p:nvSpPr>
          <p:cNvPr id="34" name="Pr1"/>
          <p:cNvSpPr/>
          <p:nvPr/>
        </p:nvSpPr>
        <p:spPr>
          <a:xfrm>
            <a:off x="3285760" y="3520000"/>
            <a:ext cx="2800000" cy="2600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PrTitle1"/>
          <p:cNvSpPr/>
          <p:nvPr/>
        </p:nvSpPr>
        <p:spPr>
          <a:xfrm>
            <a:off x="3345760" y="3546000"/>
            <a:ext cx="268000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Capability Builders</a:t>
            </a:r>
            <a:endParaRPr lang="en-US" sz="1000" dirty="0"/>
          </a:p>
        </p:txBody>
      </p:sp>
      <p:sp>
        <p:nvSpPr>
          <p:cNvPr id="36" name="PrBox1"/>
          <p:cNvSpPr/>
          <p:nvPr/>
        </p:nvSpPr>
        <p:spPr>
          <a:xfrm>
            <a:off x="3285760" y="3790000"/>
            <a:ext cx="2800000" cy="300000"/>
          </a:xfrm>
          <a:prstGeom prst="rect">
            <a:avLst/>
          </a:prstGeom>
          <a:solidFill>
            <a:srgbClr val="EEF2F7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PrDesc1"/>
          <p:cNvSpPr/>
          <p:nvPr/>
        </p:nvSpPr>
        <p:spPr>
          <a:xfrm>
            <a:off x="3345760" y="3810000"/>
            <a:ext cx="268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teams, provide templates, embed SREs temporarily</a:t>
            </a:r>
            <a:endParaRPr lang="en-US" sz="1000" dirty="0"/>
          </a:p>
        </p:txBody>
      </p:sp>
      <p:sp>
        <p:nvSpPr>
          <p:cNvPr id="38" name="Pr2"/>
          <p:cNvSpPr/>
          <p:nvPr/>
        </p:nvSpPr>
        <p:spPr>
          <a:xfrm>
            <a:off x="6205760" y="3520000"/>
            <a:ext cx="2800000" cy="26000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PrTitle2"/>
          <p:cNvSpPr/>
          <p:nvPr/>
        </p:nvSpPr>
        <p:spPr>
          <a:xfrm>
            <a:off x="6265760" y="3546000"/>
            <a:ext cx="268000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Maturity Drivers</a:t>
            </a:r>
            <a:endParaRPr lang="en-US" sz="1000" dirty="0"/>
          </a:p>
        </p:txBody>
      </p:sp>
      <p:sp>
        <p:nvSpPr>
          <p:cNvPr id="40" name="PrBox2"/>
          <p:cNvSpPr/>
          <p:nvPr/>
        </p:nvSpPr>
        <p:spPr>
          <a:xfrm>
            <a:off x="6205760" y="3790000"/>
            <a:ext cx="2800000" cy="300000"/>
          </a:xfrm>
          <a:prstGeom prst="rect">
            <a:avLst/>
          </a:prstGeom>
          <a:solidFill>
            <a:srgbClr val="EEF2F7"/>
          </a:solidFill>
          <a:ln w="1270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PrDesc2"/>
          <p:cNvSpPr/>
          <p:nvPr/>
        </p:nvSpPr>
        <p:spPr>
          <a:xfrm>
            <a:off x="6265760" y="3810000"/>
            <a:ext cx="268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progress, drive improvement backlogs, govern lightly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2920"/>
            <a:ext cx="9144000" cy="54864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 ·  OUR MATURITY BASELINE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98348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Enablement Strategy  ·  Confidential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217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</a:t>
            </a:r>
            <a:r>
              <a:rPr lang="en-GB" sz="2400" b="1" dirty="0">
                <a:solidFill>
                  <a:srgbClr val="1F3864"/>
                </a:solidFill>
                <a:latin typeface="Calibri" pitchFamily="34" charset="0"/>
                <a:cs typeface="Calibri" pitchFamily="34" charset="-120"/>
              </a:rPr>
              <a:t>Existing Enterprise SRE Foundation We Will Build On</a:t>
            </a:r>
            <a:endParaRPr lang="en-US" sz="2400" b="1" dirty="0">
              <a:solidFill>
                <a:srgbClr val="1F3864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65760" y="1078992"/>
            <a:ext cx="8412480" cy="2286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ub"/>
          <p:cNvSpPr/>
          <p:nvPr/>
        </p:nvSpPr>
        <p:spPr>
          <a:xfrm>
            <a:off x="365760" y="1140000"/>
            <a:ext cx="841248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organisations don't have this. We do. This is our launchpad — not our starting point.</a:t>
            </a:r>
            <a:endParaRPr lang="en-US" sz="1000" dirty="0"/>
          </a:p>
        </p:txBody>
      </p:sp>
      <p:sp>
        <p:nvSpPr>
          <p:cNvPr id="20" name="StrBg0"/>
          <p:cNvSpPr/>
          <p:nvPr/>
        </p:nvSpPr>
        <p:spPr>
          <a:xfrm>
            <a:off x="365760" y="1420000"/>
            <a:ext cx="2100000" cy="28000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trTitle0"/>
          <p:cNvSpPr/>
          <p:nvPr/>
        </p:nvSpPr>
        <p:spPr>
          <a:xfrm>
            <a:off x="425760" y="1450000"/>
            <a:ext cx="198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SLO/SLI Framework</a:t>
            </a:r>
            <a:endParaRPr lang="en-US" sz="1000" dirty="0"/>
          </a:p>
        </p:txBody>
      </p:sp>
      <p:sp>
        <p:nvSpPr>
          <p:cNvPr id="22" name="StrBox0"/>
          <p:cNvSpPr/>
          <p:nvPr/>
        </p:nvSpPr>
        <p:spPr>
          <a:xfrm>
            <a:off x="365760" y="1710000"/>
            <a:ext cx="2100000" cy="700000"/>
          </a:xfrm>
          <a:prstGeom prst="rect">
            <a:avLst/>
          </a:prstGeom>
          <a:solidFill>
            <a:srgbClr val="E2EFDA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trDesc0"/>
          <p:cNvSpPr/>
          <p:nvPr/>
        </p:nvSpPr>
        <p:spPr>
          <a:xfrm>
            <a:off x="425760" y="1730000"/>
            <a:ext cx="1980000" cy="6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Level Objectives and Indicators defined and structured</a:t>
            </a:r>
            <a:endParaRPr lang="en-US" sz="1000" dirty="0"/>
          </a:p>
        </p:txBody>
      </p:sp>
      <p:sp>
        <p:nvSpPr>
          <p:cNvPr id="24" name="StrBg1"/>
          <p:cNvSpPr/>
          <p:nvPr/>
        </p:nvSpPr>
        <p:spPr>
          <a:xfrm>
            <a:off x="2565760" y="1420000"/>
            <a:ext cx="2100000" cy="28000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trTitle1"/>
          <p:cNvSpPr/>
          <p:nvPr/>
        </p:nvSpPr>
        <p:spPr>
          <a:xfrm>
            <a:off x="2625760" y="1450000"/>
            <a:ext cx="198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Observability Standards</a:t>
            </a:r>
            <a:endParaRPr lang="en-US" sz="1000" dirty="0"/>
          </a:p>
        </p:txBody>
      </p:sp>
      <p:sp>
        <p:nvSpPr>
          <p:cNvPr id="26" name="StrBox1"/>
          <p:cNvSpPr/>
          <p:nvPr/>
        </p:nvSpPr>
        <p:spPr>
          <a:xfrm>
            <a:off x="2565760" y="1710000"/>
            <a:ext cx="2100000" cy="700000"/>
          </a:xfrm>
          <a:prstGeom prst="rect">
            <a:avLst/>
          </a:prstGeom>
          <a:solidFill>
            <a:srgbClr val="E2EFDA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trDesc1"/>
          <p:cNvSpPr/>
          <p:nvPr/>
        </p:nvSpPr>
        <p:spPr>
          <a:xfrm>
            <a:off x="2625760" y="1730000"/>
            <a:ext cx="1980000" cy="6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Platform-wide observability expectations established</a:t>
            </a:r>
            <a:endParaRPr lang="en-US" sz="1000" dirty="0"/>
          </a:p>
        </p:txBody>
      </p:sp>
      <p:sp>
        <p:nvSpPr>
          <p:cNvPr id="28" name="StrBg2"/>
          <p:cNvSpPr/>
          <p:nvPr/>
        </p:nvSpPr>
        <p:spPr>
          <a:xfrm>
            <a:off x="4765760" y="1420000"/>
            <a:ext cx="2100000" cy="28000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trTitle2"/>
          <p:cNvSpPr/>
          <p:nvPr/>
        </p:nvSpPr>
        <p:spPr>
          <a:xfrm>
            <a:off x="4825760" y="1450000"/>
            <a:ext cx="198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Incident Management Integration</a:t>
            </a:r>
            <a:endParaRPr lang="en-US" sz="1000" dirty="0"/>
          </a:p>
        </p:txBody>
      </p:sp>
      <p:sp>
        <p:nvSpPr>
          <p:cNvPr id="30" name="StrBox2"/>
          <p:cNvSpPr/>
          <p:nvPr/>
        </p:nvSpPr>
        <p:spPr>
          <a:xfrm>
            <a:off x="4765760" y="1710000"/>
            <a:ext cx="2100000" cy="700000"/>
          </a:xfrm>
          <a:prstGeom prst="rect">
            <a:avLst/>
          </a:prstGeom>
          <a:solidFill>
            <a:srgbClr val="E2EFDA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trDesc2"/>
          <p:cNvSpPr/>
          <p:nvPr/>
        </p:nvSpPr>
        <p:spPr>
          <a:xfrm>
            <a:off x="4825760" y="1730000"/>
            <a:ext cx="1980000" cy="6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ITSM integration with structured incident workflows</a:t>
            </a:r>
            <a:endParaRPr lang="en-US" sz="1000" dirty="0"/>
          </a:p>
        </p:txBody>
      </p:sp>
      <p:sp>
        <p:nvSpPr>
          <p:cNvPr id="32" name="StrBg3"/>
          <p:cNvSpPr/>
          <p:nvPr/>
        </p:nvSpPr>
        <p:spPr>
          <a:xfrm>
            <a:off x="6965760" y="1420000"/>
            <a:ext cx="2100000" cy="28000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trTitle3"/>
          <p:cNvSpPr/>
          <p:nvPr/>
        </p:nvSpPr>
        <p:spPr>
          <a:xfrm>
            <a:off x="7025760" y="1450000"/>
            <a:ext cx="198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CI/CD + Automation Expectations</a:t>
            </a:r>
            <a:endParaRPr lang="en-US" sz="1000" dirty="0"/>
          </a:p>
        </p:txBody>
      </p:sp>
      <p:sp>
        <p:nvSpPr>
          <p:cNvPr id="34" name="StrBox3"/>
          <p:cNvSpPr/>
          <p:nvPr/>
        </p:nvSpPr>
        <p:spPr>
          <a:xfrm>
            <a:off x="6965760" y="1710000"/>
            <a:ext cx="2100000" cy="700000"/>
          </a:xfrm>
          <a:prstGeom prst="rect">
            <a:avLst/>
          </a:prstGeom>
          <a:solidFill>
            <a:srgbClr val="E2EFDA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trDesc3"/>
          <p:cNvSpPr/>
          <p:nvPr/>
        </p:nvSpPr>
        <p:spPr>
          <a:xfrm>
            <a:off x="7025760" y="1730000"/>
            <a:ext cx="1980000" cy="6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and automation standards in place</a:t>
            </a:r>
            <a:endParaRPr lang="en-US" sz="1000" dirty="0"/>
          </a:p>
        </p:txBody>
      </p:sp>
      <p:sp>
        <p:nvSpPr>
          <p:cNvPr id="36" name="StrBg4"/>
          <p:cNvSpPr/>
          <p:nvPr/>
        </p:nvSpPr>
        <p:spPr>
          <a:xfrm>
            <a:off x="365760" y="2700000"/>
            <a:ext cx="2100000" cy="28000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trTitle4"/>
          <p:cNvSpPr/>
          <p:nvPr/>
        </p:nvSpPr>
        <p:spPr>
          <a:xfrm>
            <a:off x="425760" y="2730000"/>
            <a:ext cx="198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Toil Reduction Philosophy</a:t>
            </a:r>
            <a:endParaRPr lang="en-US" sz="1000" dirty="0"/>
          </a:p>
        </p:txBody>
      </p:sp>
      <p:sp>
        <p:nvSpPr>
          <p:cNvPr id="38" name="StrBox4"/>
          <p:cNvSpPr/>
          <p:nvPr/>
        </p:nvSpPr>
        <p:spPr>
          <a:xfrm>
            <a:off x="365760" y="2990000"/>
            <a:ext cx="2100000" cy="700000"/>
          </a:xfrm>
          <a:prstGeom prst="rect">
            <a:avLst/>
          </a:prstGeom>
          <a:solidFill>
            <a:srgbClr val="E2EFDA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trDesc4"/>
          <p:cNvSpPr/>
          <p:nvPr/>
        </p:nvSpPr>
        <p:spPr>
          <a:xfrm>
            <a:off x="425760" y="3010000"/>
            <a:ext cx="1980000" cy="6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 recognised as a first-class problem to solve</a:t>
            </a:r>
            <a:endParaRPr lang="en-US" sz="1000" dirty="0"/>
          </a:p>
        </p:txBody>
      </p:sp>
      <p:sp>
        <p:nvSpPr>
          <p:cNvPr id="40" name="StrBg5"/>
          <p:cNvSpPr/>
          <p:nvPr/>
        </p:nvSpPr>
        <p:spPr>
          <a:xfrm>
            <a:off x="2565760" y="2700000"/>
            <a:ext cx="2100000" cy="28000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trTitle5"/>
          <p:cNvSpPr/>
          <p:nvPr/>
        </p:nvSpPr>
        <p:spPr>
          <a:xfrm>
            <a:off x="2625760" y="2730000"/>
            <a:ext cx="198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Defined SRE Roles</a:t>
            </a:r>
            <a:endParaRPr lang="en-US" sz="1000" dirty="0"/>
          </a:p>
        </p:txBody>
      </p:sp>
      <p:sp>
        <p:nvSpPr>
          <p:cNvPr id="42" name="StrBox5"/>
          <p:cNvSpPr/>
          <p:nvPr/>
        </p:nvSpPr>
        <p:spPr>
          <a:xfrm>
            <a:off x="2565760" y="2990000"/>
            <a:ext cx="2100000" cy="700000"/>
          </a:xfrm>
          <a:prstGeom prst="rect">
            <a:avLst/>
          </a:prstGeom>
          <a:solidFill>
            <a:srgbClr val="E2EFDA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trDesc5"/>
          <p:cNvSpPr/>
          <p:nvPr/>
        </p:nvSpPr>
        <p:spPr>
          <a:xfrm>
            <a:off x="2625760" y="3010000"/>
            <a:ext cx="1980000" cy="6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role definitions — a very strong differentiator</a:t>
            </a:r>
            <a:endParaRPr lang="en-US" sz="1000" dirty="0"/>
          </a:p>
        </p:txBody>
      </p:sp>
      <p:sp>
        <p:nvSpPr>
          <p:cNvPr id="44" name="StrBg6"/>
          <p:cNvSpPr/>
          <p:nvPr/>
        </p:nvSpPr>
        <p:spPr>
          <a:xfrm>
            <a:off x="4765760" y="2700000"/>
            <a:ext cx="2100000" cy="28000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trTitle6"/>
          <p:cNvSpPr/>
          <p:nvPr/>
        </p:nvSpPr>
        <p:spPr>
          <a:xfrm>
            <a:off x="4825760" y="2730000"/>
            <a:ext cx="198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Value Stream / Business Alignment</a:t>
            </a:r>
            <a:endParaRPr lang="en-US" sz="1000" dirty="0"/>
          </a:p>
        </p:txBody>
      </p:sp>
      <p:sp>
        <p:nvSpPr>
          <p:cNvPr id="46" name="StrBox6"/>
          <p:cNvSpPr/>
          <p:nvPr/>
        </p:nvSpPr>
        <p:spPr>
          <a:xfrm>
            <a:off x="4765760" y="2990000"/>
            <a:ext cx="2100000" cy="700000"/>
          </a:xfrm>
          <a:prstGeom prst="rect">
            <a:avLst/>
          </a:prstGeom>
          <a:solidFill>
            <a:srgbClr val="E2EFDA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trDesc6"/>
          <p:cNvSpPr/>
          <p:nvPr/>
        </p:nvSpPr>
        <p:spPr>
          <a:xfrm>
            <a:off x="4825760" y="3010000"/>
            <a:ext cx="1980000" cy="6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tied to business outcomes, not just tech metrics</a:t>
            </a:r>
            <a:endParaRPr lang="en-US" sz="1000" dirty="0"/>
          </a:p>
        </p:txBody>
      </p:sp>
      <p:sp>
        <p:nvSpPr>
          <p:cNvPr id="48" name="StrBg7"/>
          <p:cNvSpPr/>
          <p:nvPr/>
        </p:nvSpPr>
        <p:spPr>
          <a:xfrm>
            <a:off x="6965760" y="2700000"/>
            <a:ext cx="2100000" cy="28000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trTitle7"/>
          <p:cNvSpPr/>
          <p:nvPr/>
        </p:nvSpPr>
        <p:spPr>
          <a:xfrm>
            <a:off x="7025760" y="2730000"/>
            <a:ext cx="198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Maturity Framework</a:t>
            </a:r>
            <a:endParaRPr lang="en-US" sz="1000" dirty="0"/>
          </a:p>
        </p:txBody>
      </p:sp>
      <p:sp>
        <p:nvSpPr>
          <p:cNvPr id="50" name="StrBox7"/>
          <p:cNvSpPr/>
          <p:nvPr/>
        </p:nvSpPr>
        <p:spPr>
          <a:xfrm>
            <a:off x="6965760" y="2990000"/>
            <a:ext cx="2100000" cy="700000"/>
          </a:xfrm>
          <a:prstGeom prst="rect">
            <a:avLst/>
          </a:prstGeom>
          <a:solidFill>
            <a:srgbClr val="E2EFDA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trDesc7"/>
          <p:cNvSpPr/>
          <p:nvPr/>
        </p:nvSpPr>
        <p:spPr>
          <a:xfrm>
            <a:off x="7025760" y="3010000"/>
            <a:ext cx="1980000" cy="6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→ target state progression model established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2920"/>
            <a:ext cx="9144000" cy="5486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 ·  REALITY CHECK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98348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Enablement Strategy  ·  Confidential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217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Where the Gap Usually Is —</a:t>
            </a:r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Real Challenges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078992"/>
            <a:ext cx="8412480" cy="2286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ub"/>
          <p:cNvSpPr/>
          <p:nvPr/>
        </p:nvSpPr>
        <p:spPr>
          <a:xfrm>
            <a:off x="365760" y="1140000"/>
            <a:ext cx="841248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 a strong framework in place, these are the gaps that prevent SRE from being real:</a:t>
            </a:r>
            <a:endParaRPr lang="en-US" sz="1000" dirty="0"/>
          </a:p>
        </p:txBody>
      </p:sp>
      <p:sp>
        <p:nvSpPr>
          <p:cNvPr id="20" name="GapBg0"/>
          <p:cNvSpPr/>
          <p:nvPr/>
        </p:nvSpPr>
        <p:spPr>
          <a:xfrm>
            <a:off x="365760" y="1420000"/>
            <a:ext cx="2100000" cy="2800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GapTitle0"/>
          <p:cNvSpPr/>
          <p:nvPr/>
        </p:nvSpPr>
        <p:spPr>
          <a:xfrm>
            <a:off x="425760" y="1450000"/>
            <a:ext cx="198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SLO Adoption</a:t>
            </a:r>
            <a:endParaRPr lang="en-US" sz="1000" dirty="0"/>
          </a:p>
        </p:txBody>
      </p:sp>
      <p:sp>
        <p:nvSpPr>
          <p:cNvPr id="22" name="GapBox0"/>
          <p:cNvSpPr/>
          <p:nvPr/>
        </p:nvSpPr>
        <p:spPr>
          <a:xfrm>
            <a:off x="365760" y="1710000"/>
            <a:ext cx="2100000" cy="700000"/>
          </a:xfrm>
          <a:prstGeom prst="rect">
            <a:avLst/>
          </a:prstGeom>
          <a:solidFill>
            <a:srgbClr val="FCE4D6"/>
          </a:solidFill>
          <a:ln w="12700">
            <a:solidFill>
              <a:srgbClr val="F4B9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GapDesc0"/>
          <p:cNvSpPr/>
          <p:nvPr/>
        </p:nvSpPr>
        <p:spPr>
          <a:xfrm>
            <a:off x="425760" y="1730000"/>
            <a:ext cx="1980000" cy="6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sz="850" dirty="0">
                <a:solidFill>
                  <a:srgbClr val="595959"/>
                </a:solidFill>
                <a:latin typeface="Calibri" pitchFamily="34" charset="0"/>
                <a:cs typeface="Calibri" pitchFamily="34" charset="-120"/>
              </a:rPr>
              <a:t>SLO adoption is inconsistent across teams</a:t>
            </a:r>
            <a:endParaRPr lang="en-US" sz="850" dirty="0">
              <a:solidFill>
                <a:srgbClr val="595959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24" name="GapBg1"/>
          <p:cNvSpPr/>
          <p:nvPr/>
        </p:nvSpPr>
        <p:spPr>
          <a:xfrm>
            <a:off x="2565760" y="1420000"/>
            <a:ext cx="2100000" cy="2800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GapTitle1"/>
          <p:cNvSpPr/>
          <p:nvPr/>
        </p:nvSpPr>
        <p:spPr>
          <a:xfrm>
            <a:off x="2625760" y="1450000"/>
            <a:ext cx="198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Alert Quality</a:t>
            </a:r>
            <a:endParaRPr lang="en-US" sz="1000" dirty="0"/>
          </a:p>
        </p:txBody>
      </p:sp>
      <p:sp>
        <p:nvSpPr>
          <p:cNvPr id="26" name="GapBox1"/>
          <p:cNvSpPr/>
          <p:nvPr/>
        </p:nvSpPr>
        <p:spPr>
          <a:xfrm>
            <a:off x="2565760" y="1710000"/>
            <a:ext cx="2100000" cy="700000"/>
          </a:xfrm>
          <a:prstGeom prst="rect">
            <a:avLst/>
          </a:prstGeom>
          <a:solidFill>
            <a:srgbClr val="FCE4D6"/>
          </a:solidFill>
          <a:ln w="12700">
            <a:solidFill>
              <a:srgbClr val="F4B9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GapDesc1"/>
          <p:cNvSpPr/>
          <p:nvPr/>
        </p:nvSpPr>
        <p:spPr>
          <a:xfrm>
            <a:off x="2625760" y="1730000"/>
            <a:ext cx="1980000" cy="6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sz="850" dirty="0">
                <a:solidFill>
                  <a:srgbClr val="595959"/>
                </a:solidFill>
                <a:latin typeface="Calibri" pitchFamily="34" charset="0"/>
                <a:cs typeface="Calibri" pitchFamily="34" charset="-120"/>
              </a:rPr>
              <a:t>Alert quality varies and often creates avoidable noise</a:t>
            </a:r>
            <a:endParaRPr lang="en-US" sz="850" dirty="0">
              <a:solidFill>
                <a:srgbClr val="595959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28" name="GapBg2"/>
          <p:cNvSpPr/>
          <p:nvPr/>
        </p:nvSpPr>
        <p:spPr>
          <a:xfrm>
            <a:off x="4765760" y="1420000"/>
            <a:ext cx="2100000" cy="2800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GapTitle2"/>
          <p:cNvSpPr/>
          <p:nvPr/>
        </p:nvSpPr>
        <p:spPr>
          <a:xfrm>
            <a:off x="4825760" y="1450000"/>
            <a:ext cx="198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Runbooks</a:t>
            </a:r>
            <a:endParaRPr lang="en-US" sz="1000" dirty="0"/>
          </a:p>
        </p:txBody>
      </p:sp>
      <p:sp>
        <p:nvSpPr>
          <p:cNvPr id="30" name="GapBox2"/>
          <p:cNvSpPr/>
          <p:nvPr/>
        </p:nvSpPr>
        <p:spPr>
          <a:xfrm>
            <a:off x="4765760" y="1710000"/>
            <a:ext cx="2100000" cy="700000"/>
          </a:xfrm>
          <a:prstGeom prst="rect">
            <a:avLst/>
          </a:prstGeom>
          <a:solidFill>
            <a:srgbClr val="FCE4D6"/>
          </a:solidFill>
          <a:ln w="12700">
            <a:solidFill>
              <a:srgbClr val="F4B9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GapDesc2"/>
          <p:cNvSpPr/>
          <p:nvPr/>
        </p:nvSpPr>
        <p:spPr>
          <a:xfrm>
            <a:off x="4825760" y="1730000"/>
            <a:ext cx="1980000" cy="6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or severely outdated — no runbook = slow MTTR during incidents</a:t>
            </a:r>
            <a:endParaRPr lang="en-US" sz="1000" dirty="0"/>
          </a:p>
        </p:txBody>
      </p:sp>
      <p:sp>
        <p:nvSpPr>
          <p:cNvPr id="32" name="GapBg3"/>
          <p:cNvSpPr/>
          <p:nvPr/>
        </p:nvSpPr>
        <p:spPr>
          <a:xfrm>
            <a:off x="6965760" y="1420000"/>
            <a:ext cx="2100000" cy="2800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GapTitle3"/>
          <p:cNvSpPr/>
          <p:nvPr/>
        </p:nvSpPr>
        <p:spPr>
          <a:xfrm>
            <a:off x="7025760" y="1450000"/>
            <a:ext cx="198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Incident Reviews</a:t>
            </a:r>
            <a:endParaRPr lang="en-US" sz="1000" dirty="0"/>
          </a:p>
        </p:txBody>
      </p:sp>
      <p:sp>
        <p:nvSpPr>
          <p:cNvPr id="34" name="GapBox3"/>
          <p:cNvSpPr/>
          <p:nvPr/>
        </p:nvSpPr>
        <p:spPr>
          <a:xfrm>
            <a:off x="6965760" y="1710000"/>
            <a:ext cx="2100000" cy="700000"/>
          </a:xfrm>
          <a:prstGeom prst="rect">
            <a:avLst/>
          </a:prstGeom>
          <a:solidFill>
            <a:srgbClr val="FCE4D6"/>
          </a:solidFill>
          <a:ln w="12700">
            <a:solidFill>
              <a:srgbClr val="F4B9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GapDesc3"/>
          <p:cNvSpPr/>
          <p:nvPr/>
        </p:nvSpPr>
        <p:spPr>
          <a:xfrm>
            <a:off x="7025760" y="1730000"/>
            <a:ext cx="1980000" cy="6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sz="850" dirty="0">
                <a:solidFill>
                  <a:srgbClr val="595959"/>
                </a:solidFill>
                <a:latin typeface="Calibri" pitchFamily="34" charset="0"/>
                <a:cs typeface="Calibri" pitchFamily="34" charset="-120"/>
              </a:rPr>
              <a:t>Post-incident learning is not always converted into tracked improvement</a:t>
            </a:r>
            <a:endParaRPr lang="en-US" sz="850" dirty="0">
              <a:solidFill>
                <a:srgbClr val="595959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36" name="GapBg4"/>
          <p:cNvSpPr/>
          <p:nvPr/>
        </p:nvSpPr>
        <p:spPr>
          <a:xfrm>
            <a:off x="365760" y="2700000"/>
            <a:ext cx="2100000" cy="2800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GapTitle4"/>
          <p:cNvSpPr/>
          <p:nvPr/>
        </p:nvSpPr>
        <p:spPr>
          <a:xfrm>
            <a:off x="425760" y="2730000"/>
            <a:ext cx="198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Toil Level</a:t>
            </a:r>
            <a:endParaRPr lang="en-US" sz="1000" dirty="0"/>
          </a:p>
        </p:txBody>
      </p:sp>
      <p:sp>
        <p:nvSpPr>
          <p:cNvPr id="38" name="GapBox4"/>
          <p:cNvSpPr/>
          <p:nvPr/>
        </p:nvSpPr>
        <p:spPr>
          <a:xfrm>
            <a:off x="365760" y="2990000"/>
            <a:ext cx="2100000" cy="700000"/>
          </a:xfrm>
          <a:prstGeom prst="rect">
            <a:avLst/>
          </a:prstGeom>
          <a:solidFill>
            <a:srgbClr val="FCE4D6"/>
          </a:solidFill>
          <a:ln w="12700">
            <a:solidFill>
              <a:srgbClr val="F4B9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GapDesc4"/>
          <p:cNvSpPr/>
          <p:nvPr/>
        </p:nvSpPr>
        <p:spPr>
          <a:xfrm>
            <a:off x="425760" y="3010000"/>
            <a:ext cx="1980000" cy="6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sz="850" dirty="0">
                <a:solidFill>
                  <a:srgbClr val="595959"/>
                </a:solidFill>
                <a:latin typeface="Calibri" pitchFamily="34" charset="0"/>
                <a:cs typeface="Calibri" pitchFamily="34" charset="-120"/>
              </a:rPr>
              <a:t>Toil is high but not consistently measured</a:t>
            </a:r>
            <a:endParaRPr lang="en-US" sz="850" dirty="0">
              <a:solidFill>
                <a:srgbClr val="595959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40" name="GapBg5"/>
          <p:cNvSpPr/>
          <p:nvPr/>
        </p:nvSpPr>
        <p:spPr>
          <a:xfrm>
            <a:off x="2565760" y="2700000"/>
            <a:ext cx="2100000" cy="2800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GapTitle5"/>
          <p:cNvSpPr/>
          <p:nvPr/>
        </p:nvSpPr>
        <p:spPr>
          <a:xfrm>
            <a:off x="2625760" y="2730000"/>
            <a:ext cx="198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Ownership Clarity</a:t>
            </a:r>
            <a:endParaRPr lang="en-US" sz="1000" dirty="0"/>
          </a:p>
        </p:txBody>
      </p:sp>
      <p:sp>
        <p:nvSpPr>
          <p:cNvPr id="42" name="GapBox5"/>
          <p:cNvSpPr/>
          <p:nvPr/>
        </p:nvSpPr>
        <p:spPr>
          <a:xfrm>
            <a:off x="2565760" y="2990000"/>
            <a:ext cx="2100000" cy="700000"/>
          </a:xfrm>
          <a:prstGeom prst="rect">
            <a:avLst/>
          </a:prstGeom>
          <a:solidFill>
            <a:srgbClr val="FCE4D6"/>
          </a:solidFill>
          <a:ln w="12700">
            <a:solidFill>
              <a:srgbClr val="F4B9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GapDesc5"/>
          <p:cNvSpPr/>
          <p:nvPr/>
        </p:nvSpPr>
        <p:spPr>
          <a:xfrm>
            <a:off x="2625760" y="3010000"/>
            <a:ext cx="1980000" cy="6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is unclear in practice — who owns this service when things break?</a:t>
            </a:r>
            <a:endParaRPr lang="en-US" sz="1000" dirty="0"/>
          </a:p>
        </p:txBody>
      </p:sp>
      <p:sp>
        <p:nvSpPr>
          <p:cNvPr id="44" name="GapBg6"/>
          <p:cNvSpPr/>
          <p:nvPr/>
        </p:nvSpPr>
        <p:spPr>
          <a:xfrm>
            <a:off x="4765760" y="2700000"/>
            <a:ext cx="2100000" cy="2800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GapTitle6"/>
          <p:cNvSpPr/>
          <p:nvPr/>
        </p:nvSpPr>
        <p:spPr>
          <a:xfrm>
            <a:off x="4825760" y="2730000"/>
            <a:ext cx="198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Observability Consistency</a:t>
            </a:r>
            <a:endParaRPr lang="en-US" sz="1000" dirty="0"/>
          </a:p>
        </p:txBody>
      </p:sp>
      <p:sp>
        <p:nvSpPr>
          <p:cNvPr id="46" name="GapBox6"/>
          <p:cNvSpPr/>
          <p:nvPr/>
        </p:nvSpPr>
        <p:spPr>
          <a:xfrm>
            <a:off x="4765760" y="2990000"/>
            <a:ext cx="2100000" cy="700000"/>
          </a:xfrm>
          <a:prstGeom prst="rect">
            <a:avLst/>
          </a:prstGeom>
          <a:solidFill>
            <a:srgbClr val="FCE4D6"/>
          </a:solidFill>
          <a:ln w="12700">
            <a:solidFill>
              <a:srgbClr val="F4B9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GapDesc6"/>
          <p:cNvSpPr/>
          <p:nvPr/>
        </p:nvSpPr>
        <p:spPr>
          <a:xfrm>
            <a:off x="4825760" y="3010000"/>
            <a:ext cx="1980000" cy="6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exists but is inconsistent or too noisy to act on</a:t>
            </a:r>
            <a:endParaRPr lang="en-US" sz="1000" dirty="0"/>
          </a:p>
        </p:txBody>
      </p:sp>
      <p:sp>
        <p:nvSpPr>
          <p:cNvPr id="48" name="GapBg7"/>
          <p:cNvSpPr/>
          <p:nvPr/>
        </p:nvSpPr>
        <p:spPr>
          <a:xfrm>
            <a:off x="6965760" y="2700000"/>
            <a:ext cx="2100000" cy="2800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GapTitle7"/>
          <p:cNvSpPr/>
          <p:nvPr/>
        </p:nvSpPr>
        <p:spPr>
          <a:xfrm>
            <a:off x="7025760" y="2730000"/>
            <a:ext cx="198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Standards Adoption</a:t>
            </a:r>
            <a:endParaRPr lang="en-US" sz="1000" dirty="0"/>
          </a:p>
        </p:txBody>
      </p:sp>
      <p:sp>
        <p:nvSpPr>
          <p:cNvPr id="50" name="GapBox7"/>
          <p:cNvSpPr/>
          <p:nvPr/>
        </p:nvSpPr>
        <p:spPr>
          <a:xfrm>
            <a:off x="6965760" y="2990000"/>
            <a:ext cx="2100000" cy="700000"/>
          </a:xfrm>
          <a:prstGeom prst="rect">
            <a:avLst/>
          </a:prstGeom>
          <a:solidFill>
            <a:srgbClr val="FCE4D6"/>
          </a:solidFill>
          <a:ln w="12700">
            <a:solidFill>
              <a:srgbClr val="F4B9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GapDesc7"/>
          <p:cNvSpPr/>
          <p:nvPr/>
        </p:nvSpPr>
        <p:spPr>
          <a:xfrm>
            <a:off x="7025760" y="3010000"/>
            <a:ext cx="1980000" cy="6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exist but are not enforced — gap between policy and practice</a:t>
            </a:r>
            <a:endParaRPr lang="en-US" sz="1000" dirty="0"/>
          </a:p>
        </p:txBody>
      </p:sp>
      <p:sp>
        <p:nvSpPr>
          <p:cNvPr id="60" name="FootBg"/>
          <p:cNvSpPr/>
          <p:nvPr/>
        </p:nvSpPr>
        <p:spPr>
          <a:xfrm>
            <a:off x="365760" y="4040000"/>
            <a:ext cx="8412480" cy="330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FootTxt"/>
          <p:cNvSpPr/>
          <p:nvPr/>
        </p:nvSpPr>
        <p:spPr>
          <a:xfrm>
            <a:off x="502920" y="4070000"/>
            <a:ext cx="822960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GB" sz="1200" b="1" i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This is the gap we are well placed to close as a specialised DevOps and SRE enablement team.</a:t>
            </a:r>
            <a:endParaRPr lang="en-US" sz="1200" b="1" i="1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2920"/>
            <a:ext cx="914400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1  ·  SRE MATURITY BASELINE PER TEAM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98348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Enablement Strategy  ·  Confidential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217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SRE Maturity Baseline — </a:t>
            </a:r>
            <a:r>
              <a:rPr lang="en-GB" sz="2000" b="1" dirty="0">
                <a:solidFill>
                  <a:srgbClr val="2E75B6"/>
                </a:solidFill>
                <a:latin typeface="Calibri" pitchFamily="34" charset="0"/>
                <a:cs typeface="Calibri" pitchFamily="34" charset="-120"/>
              </a:rPr>
              <a:t>Team Baseline and Visibility</a:t>
            </a:r>
            <a:endParaRPr lang="en-US" sz="2000" b="1" dirty="0">
              <a:solidFill>
                <a:srgbClr val="2E75B6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65760" y="1078992"/>
            <a:ext cx="8412480" cy="2286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Hdr"/>
          <p:cNvSpPr/>
          <p:nvPr/>
        </p:nvSpPr>
        <p:spPr>
          <a:xfrm>
            <a:off x="365760" y="1170000"/>
            <a:ext cx="3800000" cy="280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HdrTxt"/>
          <p:cNvSpPr/>
          <p:nvPr/>
        </p:nvSpPr>
        <p:spPr>
          <a:xfrm>
            <a:off x="420000" y="1200000"/>
            <a:ext cx="369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000" dirty="0"/>
          </a:p>
        </p:txBody>
      </p:sp>
      <p:sp>
        <p:nvSpPr>
          <p:cNvPr id="15" name="ApBg0"/>
          <p:cNvSpPr/>
          <p:nvPr/>
        </p:nvSpPr>
        <p:spPr>
          <a:xfrm>
            <a:off x="365760" y="1500000"/>
            <a:ext cx="3800000" cy="440000"/>
          </a:xfrm>
          <a:prstGeom prst="rect">
            <a:avLst/>
          </a:prstGeom>
          <a:solidFill>
            <a:srgbClr val="FCE4D6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ApLbl0"/>
          <p:cNvSpPr/>
          <p:nvPr/>
        </p:nvSpPr>
        <p:spPr>
          <a:xfrm>
            <a:off x="420000" y="1530000"/>
            <a:ext cx="369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of...</a:t>
            </a:r>
            <a:endParaRPr lang="en-US" sz="1000" dirty="0"/>
          </a:p>
        </p:txBody>
      </p:sp>
      <p:sp>
        <p:nvSpPr>
          <p:cNvPr id="17" name="ApTxt0"/>
          <p:cNvSpPr/>
          <p:nvPr/>
        </p:nvSpPr>
        <p:spPr>
          <a:xfrm>
            <a:off x="420000" y="1680000"/>
            <a:ext cx="369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'You are not compliant'</a:t>
            </a:r>
            <a:endParaRPr lang="en-US" sz="1000" dirty="0"/>
          </a:p>
        </p:txBody>
      </p:sp>
      <p:sp>
        <p:nvSpPr>
          <p:cNvPr id="19" name="ApBg1"/>
          <p:cNvSpPr/>
          <p:nvPr/>
        </p:nvSpPr>
        <p:spPr>
          <a:xfrm>
            <a:off x="365760" y="2000000"/>
            <a:ext cx="3800000" cy="440000"/>
          </a:xfrm>
          <a:prstGeom prst="rect">
            <a:avLst/>
          </a:prstGeom>
          <a:solidFill>
            <a:srgbClr val="E2EFDA"/>
          </a:solidFill>
          <a:ln w="1270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ApLbl1"/>
          <p:cNvSpPr/>
          <p:nvPr/>
        </p:nvSpPr>
        <p:spPr>
          <a:xfrm>
            <a:off x="420000" y="2030000"/>
            <a:ext cx="369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say...</a:t>
            </a:r>
            <a:endParaRPr lang="en-US" sz="1000" dirty="0"/>
          </a:p>
        </p:txBody>
      </p:sp>
      <p:sp>
        <p:nvSpPr>
          <p:cNvPr id="21" name="ApTxt1"/>
          <p:cNvSpPr/>
          <p:nvPr/>
        </p:nvSpPr>
        <p:spPr>
          <a:xfrm>
            <a:off x="420000" y="2180000"/>
            <a:ext cx="369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'Let us baseline your current maturity across key SRE dimensions'</a:t>
            </a:r>
            <a:endParaRPr lang="en-US" sz="1000" dirty="0"/>
          </a:p>
        </p:txBody>
      </p:sp>
      <p:sp>
        <p:nvSpPr>
          <p:cNvPr id="25" name="DimHdr"/>
          <p:cNvSpPr/>
          <p:nvPr/>
        </p:nvSpPr>
        <p:spPr>
          <a:xfrm>
            <a:off x="420000" y="2600000"/>
            <a:ext cx="369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ASSESSED PER TEAM</a:t>
            </a:r>
            <a:endParaRPr lang="en-US" sz="1000" dirty="0"/>
          </a:p>
        </p:txBody>
      </p:sp>
      <p:sp>
        <p:nvSpPr>
          <p:cNvPr id="30" name="Dim0"/>
          <p:cNvSpPr/>
          <p:nvPr/>
        </p:nvSpPr>
        <p:spPr>
          <a:xfrm>
            <a:off x="420000" y="2830000"/>
            <a:ext cx="369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SLO adoption</a:t>
            </a:r>
            <a:endParaRPr lang="en-US" sz="1000" dirty="0"/>
          </a:p>
        </p:txBody>
      </p:sp>
      <p:sp>
        <p:nvSpPr>
          <p:cNvPr id="31" name="Dim1"/>
          <p:cNvSpPr/>
          <p:nvPr/>
        </p:nvSpPr>
        <p:spPr>
          <a:xfrm>
            <a:off x="420000" y="3060000"/>
            <a:ext cx="369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Alert quality</a:t>
            </a:r>
            <a:endParaRPr lang="en-US" sz="1000" dirty="0"/>
          </a:p>
        </p:txBody>
      </p:sp>
      <p:sp>
        <p:nvSpPr>
          <p:cNvPr id="32" name="Dim2"/>
          <p:cNvSpPr/>
          <p:nvPr/>
        </p:nvSpPr>
        <p:spPr>
          <a:xfrm>
            <a:off x="420000" y="3290000"/>
            <a:ext cx="369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Observability coverage</a:t>
            </a:r>
            <a:endParaRPr lang="en-US" sz="1000" dirty="0"/>
          </a:p>
        </p:txBody>
      </p:sp>
      <p:sp>
        <p:nvSpPr>
          <p:cNvPr id="33" name="Dim3"/>
          <p:cNvSpPr/>
          <p:nvPr/>
        </p:nvSpPr>
        <p:spPr>
          <a:xfrm>
            <a:off x="420000" y="3520000"/>
            <a:ext cx="369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Incident handling</a:t>
            </a:r>
            <a:endParaRPr lang="en-US" sz="1000" dirty="0"/>
          </a:p>
        </p:txBody>
      </p:sp>
      <p:sp>
        <p:nvSpPr>
          <p:cNvPr id="34" name="Dim4"/>
          <p:cNvSpPr/>
          <p:nvPr/>
        </p:nvSpPr>
        <p:spPr>
          <a:xfrm>
            <a:off x="420000" y="3750000"/>
            <a:ext cx="369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Runbooks</a:t>
            </a:r>
            <a:endParaRPr lang="en-US" sz="1000" dirty="0"/>
          </a:p>
        </p:txBody>
      </p:sp>
      <p:sp>
        <p:nvSpPr>
          <p:cNvPr id="35" name="Dim5"/>
          <p:cNvSpPr/>
          <p:nvPr/>
        </p:nvSpPr>
        <p:spPr>
          <a:xfrm>
            <a:off x="420000" y="3980000"/>
            <a:ext cx="369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Deployment reliability</a:t>
            </a:r>
            <a:endParaRPr lang="en-US" sz="1000" dirty="0"/>
          </a:p>
        </p:txBody>
      </p:sp>
      <p:sp>
        <p:nvSpPr>
          <p:cNvPr id="36" name="Dim6"/>
          <p:cNvSpPr/>
          <p:nvPr/>
        </p:nvSpPr>
        <p:spPr>
          <a:xfrm>
            <a:off x="420000" y="4210000"/>
            <a:ext cx="369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Toil level</a:t>
            </a:r>
            <a:endParaRPr lang="en-US" sz="1000" dirty="0"/>
          </a:p>
        </p:txBody>
      </p:sp>
      <p:sp>
        <p:nvSpPr>
          <p:cNvPr id="37" name="Dim7"/>
          <p:cNvSpPr/>
          <p:nvPr/>
        </p:nvSpPr>
        <p:spPr>
          <a:xfrm>
            <a:off x="420000" y="4440000"/>
            <a:ext cx="369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Ownership clarity</a:t>
            </a:r>
            <a:endParaRPr lang="en-US" sz="1000" dirty="0"/>
          </a:p>
        </p:txBody>
      </p:sp>
      <p:sp>
        <p:nvSpPr>
          <p:cNvPr id="40" name="RHdr"/>
          <p:cNvSpPr/>
          <p:nvPr/>
        </p:nvSpPr>
        <p:spPr>
          <a:xfrm>
            <a:off x="4450000" y="1170000"/>
            <a:ext cx="4330000" cy="2800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HdrTxt"/>
          <p:cNvSpPr/>
          <p:nvPr/>
        </p:nvSpPr>
        <p:spPr>
          <a:xfrm>
            <a:off x="4510000" y="1200000"/>
            <a:ext cx="421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TEAM SCORECARD</a:t>
            </a:r>
            <a:endParaRPr lang="en-US" sz="1000" dirty="0"/>
          </a:p>
        </p:txBody>
      </p:sp>
      <p:sp>
        <p:nvSpPr>
          <p:cNvPr id="50" name="ScBg0"/>
          <p:cNvSpPr/>
          <p:nvPr/>
        </p:nvSpPr>
        <p:spPr>
          <a:xfrm>
            <a:off x="4450000" y="1530000"/>
            <a:ext cx="4330000" cy="360000"/>
          </a:xfrm>
          <a:prstGeom prst="rect">
            <a:avLst/>
          </a:prstGeom>
          <a:solidFill>
            <a:srgbClr val="EEF2F7"/>
          </a:solidFill>
          <a:ln w="12700">
            <a:solidFill>
              <a:srgbClr val="D6D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cArea0"/>
          <p:cNvSpPr/>
          <p:nvPr/>
        </p:nvSpPr>
        <p:spPr>
          <a:xfrm>
            <a:off x="4510000" y="1580000"/>
            <a:ext cx="29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 Adoption</a:t>
            </a:r>
            <a:endParaRPr lang="en-US" sz="1000" dirty="0"/>
          </a:p>
        </p:txBody>
      </p:sp>
      <p:sp>
        <p:nvSpPr>
          <p:cNvPr id="52" name="ScBadge0"/>
          <p:cNvSpPr/>
          <p:nvPr/>
        </p:nvSpPr>
        <p:spPr>
          <a:xfrm>
            <a:off x="7500000" y="1590000"/>
            <a:ext cx="600000" cy="2400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cScore0"/>
          <p:cNvSpPr/>
          <p:nvPr/>
        </p:nvSpPr>
        <p:spPr>
          <a:xfrm>
            <a:off x="7510000" y="1610000"/>
            <a:ext cx="58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2/5</a:t>
            </a:r>
            <a:endParaRPr lang="en-US" sz="1000" dirty="0"/>
          </a:p>
        </p:txBody>
      </p:sp>
      <p:sp>
        <p:nvSpPr>
          <p:cNvPr id="54" name="ScBg1"/>
          <p:cNvSpPr/>
          <p:nvPr/>
        </p:nvSpPr>
        <p:spPr>
          <a:xfrm>
            <a:off x="4450000" y="1940000"/>
            <a:ext cx="4330000" cy="360000"/>
          </a:xfrm>
          <a:prstGeom prst="rect">
            <a:avLst/>
          </a:prstGeom>
          <a:solidFill>
            <a:srgbClr val="EEF2F7"/>
          </a:solidFill>
          <a:ln w="12700">
            <a:solidFill>
              <a:srgbClr val="D6D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cArea1"/>
          <p:cNvSpPr/>
          <p:nvPr/>
        </p:nvSpPr>
        <p:spPr>
          <a:xfrm>
            <a:off x="4510000" y="1990000"/>
            <a:ext cx="29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000" dirty="0"/>
          </a:p>
        </p:txBody>
      </p:sp>
      <p:sp>
        <p:nvSpPr>
          <p:cNvPr id="56" name="ScBadge1"/>
          <p:cNvSpPr/>
          <p:nvPr/>
        </p:nvSpPr>
        <p:spPr>
          <a:xfrm>
            <a:off x="7500000" y="2000000"/>
            <a:ext cx="600000" cy="240000"/>
          </a:xfrm>
          <a:prstGeom prst="rect">
            <a:avLst/>
          </a:prstGeom>
          <a:solidFill>
            <a:srgbClr val="7F6000"/>
          </a:solidFill>
          <a:ln w="12700">
            <a:solidFill>
              <a:srgbClr val="7F6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cScore1"/>
          <p:cNvSpPr/>
          <p:nvPr/>
        </p:nvSpPr>
        <p:spPr>
          <a:xfrm>
            <a:off x="7510000" y="2020000"/>
            <a:ext cx="58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3/5</a:t>
            </a:r>
            <a:endParaRPr lang="en-US" sz="1000" dirty="0"/>
          </a:p>
        </p:txBody>
      </p:sp>
      <p:sp>
        <p:nvSpPr>
          <p:cNvPr id="58" name="ScBg2"/>
          <p:cNvSpPr/>
          <p:nvPr/>
        </p:nvSpPr>
        <p:spPr>
          <a:xfrm>
            <a:off x="4450000" y="2350000"/>
            <a:ext cx="4330000" cy="360000"/>
          </a:xfrm>
          <a:prstGeom prst="rect">
            <a:avLst/>
          </a:prstGeom>
          <a:solidFill>
            <a:srgbClr val="EEF2F7"/>
          </a:solidFill>
          <a:ln w="12700">
            <a:solidFill>
              <a:srgbClr val="D6D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cArea2"/>
          <p:cNvSpPr/>
          <p:nvPr/>
        </p:nvSpPr>
        <p:spPr>
          <a:xfrm>
            <a:off x="4510000" y="2400000"/>
            <a:ext cx="29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Quality</a:t>
            </a:r>
            <a:endParaRPr lang="en-US" sz="1000" dirty="0"/>
          </a:p>
        </p:txBody>
      </p:sp>
      <p:sp>
        <p:nvSpPr>
          <p:cNvPr id="60" name="ScBadge2"/>
          <p:cNvSpPr/>
          <p:nvPr/>
        </p:nvSpPr>
        <p:spPr>
          <a:xfrm>
            <a:off x="7500000" y="2410000"/>
            <a:ext cx="600000" cy="2400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cScore2"/>
          <p:cNvSpPr/>
          <p:nvPr/>
        </p:nvSpPr>
        <p:spPr>
          <a:xfrm>
            <a:off x="7510000" y="2430000"/>
            <a:ext cx="58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1/5</a:t>
            </a:r>
            <a:endParaRPr lang="en-US" sz="1000" dirty="0"/>
          </a:p>
        </p:txBody>
      </p:sp>
      <p:sp>
        <p:nvSpPr>
          <p:cNvPr id="62" name="ScBg3"/>
          <p:cNvSpPr/>
          <p:nvPr/>
        </p:nvSpPr>
        <p:spPr>
          <a:xfrm>
            <a:off x="4450000" y="2760000"/>
            <a:ext cx="4330000" cy="360000"/>
          </a:xfrm>
          <a:prstGeom prst="rect">
            <a:avLst/>
          </a:prstGeom>
          <a:solidFill>
            <a:srgbClr val="EEF2F7"/>
          </a:solidFill>
          <a:ln w="12700">
            <a:solidFill>
              <a:srgbClr val="D6D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cArea3"/>
          <p:cNvSpPr/>
          <p:nvPr/>
        </p:nvSpPr>
        <p:spPr>
          <a:xfrm>
            <a:off x="4510000" y="2810000"/>
            <a:ext cx="29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</a:t>
            </a:r>
            <a:endParaRPr lang="en-US" sz="1000" dirty="0"/>
          </a:p>
        </p:txBody>
      </p:sp>
      <p:sp>
        <p:nvSpPr>
          <p:cNvPr id="64" name="ScBadge3"/>
          <p:cNvSpPr/>
          <p:nvPr/>
        </p:nvSpPr>
        <p:spPr>
          <a:xfrm>
            <a:off x="7500000" y="2820000"/>
            <a:ext cx="600000" cy="240000"/>
          </a:xfrm>
          <a:prstGeom prst="rect">
            <a:avLst/>
          </a:prstGeom>
          <a:solidFill>
            <a:srgbClr val="7F6000"/>
          </a:solidFill>
          <a:ln w="12700">
            <a:solidFill>
              <a:srgbClr val="7F6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cScore3"/>
          <p:cNvSpPr/>
          <p:nvPr/>
        </p:nvSpPr>
        <p:spPr>
          <a:xfrm>
            <a:off x="7510000" y="2840000"/>
            <a:ext cx="58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3/5</a:t>
            </a:r>
            <a:endParaRPr lang="en-US" sz="1000" dirty="0"/>
          </a:p>
        </p:txBody>
      </p:sp>
      <p:sp>
        <p:nvSpPr>
          <p:cNvPr id="66" name="ScBg4"/>
          <p:cNvSpPr/>
          <p:nvPr/>
        </p:nvSpPr>
        <p:spPr>
          <a:xfrm>
            <a:off x="4450000" y="3170000"/>
            <a:ext cx="4330000" cy="360000"/>
          </a:xfrm>
          <a:prstGeom prst="rect">
            <a:avLst/>
          </a:prstGeom>
          <a:solidFill>
            <a:srgbClr val="EEF2F7"/>
          </a:solidFill>
          <a:ln w="12700">
            <a:solidFill>
              <a:srgbClr val="D6D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cArea4"/>
          <p:cNvSpPr/>
          <p:nvPr/>
        </p:nvSpPr>
        <p:spPr>
          <a:xfrm>
            <a:off x="4510000" y="3220000"/>
            <a:ext cx="29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Runbooks</a:t>
            </a:r>
            <a:endParaRPr lang="en-US" sz="1000" dirty="0"/>
          </a:p>
        </p:txBody>
      </p:sp>
      <p:sp>
        <p:nvSpPr>
          <p:cNvPr id="68" name="ScBadge4"/>
          <p:cNvSpPr/>
          <p:nvPr/>
        </p:nvSpPr>
        <p:spPr>
          <a:xfrm>
            <a:off x="7500000" y="3230000"/>
            <a:ext cx="600000" cy="2400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cScore4"/>
          <p:cNvSpPr/>
          <p:nvPr/>
        </p:nvSpPr>
        <p:spPr>
          <a:xfrm>
            <a:off x="7510000" y="3250000"/>
            <a:ext cx="58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2/5</a:t>
            </a:r>
            <a:endParaRPr lang="en-US" sz="1000" dirty="0"/>
          </a:p>
        </p:txBody>
      </p:sp>
      <p:sp>
        <p:nvSpPr>
          <p:cNvPr id="70" name="ScBg5"/>
          <p:cNvSpPr/>
          <p:nvPr/>
        </p:nvSpPr>
        <p:spPr>
          <a:xfrm>
            <a:off x="4450000" y="3580000"/>
            <a:ext cx="4330000" cy="360000"/>
          </a:xfrm>
          <a:prstGeom prst="rect">
            <a:avLst/>
          </a:prstGeom>
          <a:solidFill>
            <a:srgbClr val="EEF2F7"/>
          </a:solidFill>
          <a:ln w="12700">
            <a:solidFill>
              <a:srgbClr val="D6D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cArea5"/>
          <p:cNvSpPr/>
          <p:nvPr/>
        </p:nvSpPr>
        <p:spPr>
          <a:xfrm>
            <a:off x="4510000" y="3630000"/>
            <a:ext cx="29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000" dirty="0"/>
          </a:p>
        </p:txBody>
      </p:sp>
      <p:sp>
        <p:nvSpPr>
          <p:cNvPr id="72" name="ScBadge5"/>
          <p:cNvSpPr/>
          <p:nvPr/>
        </p:nvSpPr>
        <p:spPr>
          <a:xfrm>
            <a:off x="7500000" y="3640000"/>
            <a:ext cx="600000" cy="2400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cScore5"/>
          <p:cNvSpPr/>
          <p:nvPr/>
        </p:nvSpPr>
        <p:spPr>
          <a:xfrm>
            <a:off x="7510000" y="3660000"/>
            <a:ext cx="58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2/5</a:t>
            </a:r>
            <a:endParaRPr lang="en-US" sz="1000" dirty="0"/>
          </a:p>
        </p:txBody>
      </p:sp>
      <p:sp>
        <p:nvSpPr>
          <p:cNvPr id="74" name="ScBg6"/>
          <p:cNvSpPr/>
          <p:nvPr/>
        </p:nvSpPr>
        <p:spPr>
          <a:xfrm>
            <a:off x="4450000" y="3990000"/>
            <a:ext cx="4330000" cy="360000"/>
          </a:xfrm>
          <a:prstGeom prst="rect">
            <a:avLst/>
          </a:prstGeom>
          <a:solidFill>
            <a:srgbClr val="EEF2F7"/>
          </a:solidFill>
          <a:ln w="12700">
            <a:solidFill>
              <a:srgbClr val="D6D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cArea6"/>
          <p:cNvSpPr/>
          <p:nvPr/>
        </p:nvSpPr>
        <p:spPr>
          <a:xfrm>
            <a:off x="4510000" y="4040000"/>
            <a:ext cx="29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 Measurement</a:t>
            </a:r>
            <a:endParaRPr lang="en-US" sz="1000" dirty="0"/>
          </a:p>
        </p:txBody>
      </p:sp>
      <p:sp>
        <p:nvSpPr>
          <p:cNvPr id="76" name="ScBadge6"/>
          <p:cNvSpPr/>
          <p:nvPr/>
        </p:nvSpPr>
        <p:spPr>
          <a:xfrm>
            <a:off x="7500000" y="4050000"/>
            <a:ext cx="600000" cy="2400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cScore6"/>
          <p:cNvSpPr/>
          <p:nvPr/>
        </p:nvSpPr>
        <p:spPr>
          <a:xfrm>
            <a:off x="7510000" y="4070000"/>
            <a:ext cx="58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1/5</a:t>
            </a:r>
            <a:endParaRPr lang="en-US" sz="1000" dirty="0"/>
          </a:p>
        </p:txBody>
      </p:sp>
      <p:sp>
        <p:nvSpPr>
          <p:cNvPr id="78" name="ScBg7"/>
          <p:cNvSpPr/>
          <p:nvPr/>
        </p:nvSpPr>
        <p:spPr>
          <a:xfrm>
            <a:off x="4450000" y="4400000"/>
            <a:ext cx="4330000" cy="360000"/>
          </a:xfrm>
          <a:prstGeom prst="rect">
            <a:avLst/>
          </a:prstGeom>
          <a:solidFill>
            <a:srgbClr val="EEF2F7"/>
          </a:solidFill>
          <a:ln w="12700">
            <a:solidFill>
              <a:srgbClr val="D6D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cArea7"/>
          <p:cNvSpPr/>
          <p:nvPr/>
        </p:nvSpPr>
        <p:spPr>
          <a:xfrm>
            <a:off x="4510000" y="4450000"/>
            <a:ext cx="29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Clarity</a:t>
            </a:r>
            <a:endParaRPr lang="en-US" sz="1000" dirty="0"/>
          </a:p>
        </p:txBody>
      </p:sp>
      <p:sp>
        <p:nvSpPr>
          <p:cNvPr id="80" name="ScBadge7"/>
          <p:cNvSpPr/>
          <p:nvPr/>
        </p:nvSpPr>
        <p:spPr>
          <a:xfrm>
            <a:off x="7500000" y="4460000"/>
            <a:ext cx="600000" cy="24000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cScore7"/>
          <p:cNvSpPr/>
          <p:nvPr/>
        </p:nvSpPr>
        <p:spPr>
          <a:xfrm>
            <a:off x="7510000" y="4480000"/>
            <a:ext cx="58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4/5</a:t>
            </a:r>
            <a:endParaRPr lang="en-US" sz="1000" dirty="0"/>
          </a:p>
        </p:txBody>
      </p:sp>
      <p:sp>
        <p:nvSpPr>
          <p:cNvPr id="12" name="OutBg"/>
          <p:cNvSpPr/>
          <p:nvPr/>
        </p:nvSpPr>
        <p:spPr>
          <a:xfrm>
            <a:off x="420000" y="4776365"/>
            <a:ext cx="8412480" cy="176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OutTxt"/>
          <p:cNvSpPr/>
          <p:nvPr/>
        </p:nvSpPr>
        <p:spPr>
          <a:xfrm>
            <a:off x="511440" y="4774048"/>
            <a:ext cx="82296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r>
              <a:rPr lang="en-US" sz="1000" i="1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heatmap per team  ·  </a:t>
            </a:r>
            <a:r>
              <a:rPr lang="en-GB" sz="1000" i="1" dirty="0">
                <a:solidFill>
                  <a:srgbClr val="9DC3E6"/>
                </a:solidFill>
                <a:latin typeface="Calibri" pitchFamily="34" charset="0"/>
                <a:cs typeface="Calibri" pitchFamily="34" charset="-120"/>
              </a:rPr>
              <a:t>Objective visibility </a:t>
            </a:r>
            <a:r>
              <a:rPr lang="en-US" sz="1000" i="1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Triggers a constructive improvement conversation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2920"/>
            <a:ext cx="9144000" cy="5486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2  ·  MINIMUM SRE CONTRACT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98348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Enablement Strategy  ·  Confidential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217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Minimum SRE </a:t>
            </a:r>
            <a:r>
              <a:rPr lang="en-GB" sz="2000" b="1" dirty="0">
                <a:solidFill>
                  <a:srgbClr val="1F3864"/>
                </a:solidFill>
                <a:latin typeface="Calibri" pitchFamily="34" charset="0"/>
                <a:cs typeface="Calibri" pitchFamily="34" charset="-120"/>
              </a:rPr>
              <a:t>Baseline</a:t>
            </a: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</a:t>
            </a: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Non-Negotiable Minimums per Service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078992"/>
            <a:ext cx="8412480" cy="2286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ub"/>
          <p:cNvSpPr/>
          <p:nvPr/>
        </p:nvSpPr>
        <p:spPr>
          <a:xfrm>
            <a:off x="365760" y="1140000"/>
            <a:ext cx="841248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already have standards. Now convert them into </a:t>
            </a:r>
            <a:r>
              <a:rPr lang="en-GB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r>
              <a:rPr lang="en-GB" sz="1100" i="1" dirty="0">
                <a:solidFill>
                  <a:srgbClr val="595959"/>
                </a:solidFill>
                <a:latin typeface="Calibri" pitchFamily="34" charset="0"/>
                <a:cs typeface="Calibri" pitchFamily="34" charset="-120"/>
              </a:rPr>
              <a:t>inimum baseline expectations</a:t>
            </a: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critical service must meet.</a:t>
            </a:r>
            <a:endParaRPr lang="en-US" sz="1000" dirty="0"/>
          </a:p>
        </p:txBody>
      </p:sp>
      <p:sp>
        <p:nvSpPr>
          <p:cNvPr id="11" name="LHdr"/>
          <p:cNvSpPr/>
          <p:nvPr/>
        </p:nvSpPr>
        <p:spPr>
          <a:xfrm>
            <a:off x="365760" y="1400000"/>
            <a:ext cx="4100000" cy="280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LHdrTxt"/>
          <p:cNvSpPr/>
          <p:nvPr/>
        </p:nvSpPr>
        <p:spPr>
          <a:xfrm>
            <a:off x="420000" y="1430000"/>
            <a:ext cx="399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CRITICAL SERVICE MUST HAVE</a:t>
            </a:r>
            <a:endParaRPr lang="en-US" sz="1000" dirty="0"/>
          </a:p>
        </p:txBody>
      </p:sp>
      <p:sp>
        <p:nvSpPr>
          <p:cNvPr id="20" name="CBg0"/>
          <p:cNvSpPr/>
          <p:nvPr/>
        </p:nvSpPr>
        <p:spPr>
          <a:xfrm>
            <a:off x="365760" y="1740000"/>
            <a:ext cx="4100000" cy="480000"/>
          </a:xfrm>
          <a:prstGeom prst="rect">
            <a:avLst/>
          </a:prstGeom>
          <a:solidFill>
            <a:srgbClr val="EEF2F7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CBar0"/>
          <p:cNvSpPr/>
          <p:nvPr/>
        </p:nvSpPr>
        <p:spPr>
          <a:xfrm>
            <a:off x="365760" y="1740000"/>
            <a:ext cx="60000" cy="480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CTitle0"/>
          <p:cNvSpPr/>
          <p:nvPr/>
        </p:nvSpPr>
        <p:spPr>
          <a:xfrm>
            <a:off x="480000" y="1770000"/>
            <a:ext cx="39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Defined Owner</a:t>
            </a:r>
            <a:endParaRPr lang="en-US" sz="1000" dirty="0"/>
          </a:p>
        </p:txBody>
      </p:sp>
      <p:sp>
        <p:nvSpPr>
          <p:cNvPr id="23" name="CDesc0"/>
          <p:cNvSpPr/>
          <p:nvPr/>
        </p:nvSpPr>
        <p:spPr>
          <a:xfrm>
            <a:off x="480000" y="1960000"/>
            <a:ext cx="39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ownership — one team, one service, no ambiguity</a:t>
            </a:r>
            <a:endParaRPr lang="en-US" sz="1000" dirty="0"/>
          </a:p>
        </p:txBody>
      </p:sp>
      <p:sp>
        <p:nvSpPr>
          <p:cNvPr id="24" name="CBg1"/>
          <p:cNvSpPr/>
          <p:nvPr/>
        </p:nvSpPr>
        <p:spPr>
          <a:xfrm>
            <a:off x="365760" y="2270000"/>
            <a:ext cx="4100000" cy="480000"/>
          </a:xfrm>
          <a:prstGeom prst="rect">
            <a:avLst/>
          </a:prstGeom>
          <a:solidFill>
            <a:srgbClr val="EEF2F7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CBar1"/>
          <p:cNvSpPr/>
          <p:nvPr/>
        </p:nvSpPr>
        <p:spPr>
          <a:xfrm>
            <a:off x="365760" y="2270000"/>
            <a:ext cx="60000" cy="480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CTitle1"/>
          <p:cNvSpPr/>
          <p:nvPr/>
        </p:nvSpPr>
        <p:spPr>
          <a:xfrm>
            <a:off x="480000" y="2300000"/>
            <a:ext cx="39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SLO Defined</a:t>
            </a:r>
            <a:endParaRPr lang="en-US" sz="1000" dirty="0"/>
          </a:p>
        </p:txBody>
      </p:sp>
      <p:sp>
        <p:nvSpPr>
          <p:cNvPr id="27" name="CDesc1"/>
          <p:cNvSpPr/>
          <p:nvPr/>
        </p:nvSpPr>
        <p:spPr>
          <a:xfrm>
            <a:off x="480000" y="2490000"/>
            <a:ext cx="39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 basic SLO. Availability target with error budget.</a:t>
            </a:r>
            <a:endParaRPr lang="en-US" sz="1000" dirty="0"/>
          </a:p>
        </p:txBody>
      </p:sp>
      <p:sp>
        <p:nvSpPr>
          <p:cNvPr id="28" name="CBg2"/>
          <p:cNvSpPr/>
          <p:nvPr/>
        </p:nvSpPr>
        <p:spPr>
          <a:xfrm>
            <a:off x="365760" y="2800000"/>
            <a:ext cx="4100000" cy="480000"/>
          </a:xfrm>
          <a:prstGeom prst="rect">
            <a:avLst/>
          </a:prstGeom>
          <a:solidFill>
            <a:srgbClr val="EEF2F7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CBar2"/>
          <p:cNvSpPr/>
          <p:nvPr/>
        </p:nvSpPr>
        <p:spPr>
          <a:xfrm>
            <a:off x="365760" y="2800000"/>
            <a:ext cx="60000" cy="480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CTitle2"/>
          <p:cNvSpPr/>
          <p:nvPr/>
        </p:nvSpPr>
        <p:spPr>
          <a:xfrm>
            <a:off x="480000" y="2830000"/>
            <a:ext cx="39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 Monitoring + Alerting</a:t>
            </a:r>
            <a:endParaRPr lang="en-US" sz="1000" dirty="0"/>
          </a:p>
        </p:txBody>
      </p:sp>
      <p:sp>
        <p:nvSpPr>
          <p:cNvPr id="31" name="CDesc2"/>
          <p:cNvSpPr/>
          <p:nvPr/>
        </p:nvSpPr>
        <p:spPr>
          <a:xfrm>
            <a:off x="480000" y="3020000"/>
            <a:ext cx="39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alerts tied to SLO thresholds — not vanity metrics</a:t>
            </a:r>
            <a:endParaRPr lang="en-US" sz="1000" dirty="0"/>
          </a:p>
        </p:txBody>
      </p:sp>
      <p:sp>
        <p:nvSpPr>
          <p:cNvPr id="32" name="CBg3"/>
          <p:cNvSpPr/>
          <p:nvPr/>
        </p:nvSpPr>
        <p:spPr>
          <a:xfrm>
            <a:off x="365760" y="3330000"/>
            <a:ext cx="4100000" cy="480000"/>
          </a:xfrm>
          <a:prstGeom prst="rect">
            <a:avLst/>
          </a:prstGeom>
          <a:solidFill>
            <a:srgbClr val="EEF2F7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CBar3"/>
          <p:cNvSpPr/>
          <p:nvPr/>
        </p:nvSpPr>
        <p:spPr>
          <a:xfrm>
            <a:off x="365760" y="3330000"/>
            <a:ext cx="60000" cy="480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CTitle3"/>
          <p:cNvSpPr/>
          <p:nvPr/>
        </p:nvSpPr>
        <p:spPr>
          <a:xfrm>
            <a:off x="480000" y="3360000"/>
            <a:ext cx="39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On-Call Path</a:t>
            </a:r>
            <a:endParaRPr lang="en-US" sz="1000" dirty="0"/>
          </a:p>
        </p:txBody>
      </p:sp>
      <p:sp>
        <p:nvSpPr>
          <p:cNvPr id="35" name="CDesc3"/>
          <p:cNvSpPr/>
          <p:nvPr/>
        </p:nvSpPr>
        <p:spPr>
          <a:xfrm>
            <a:off x="480000" y="3550000"/>
            <a:ext cx="39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escalation path when the service degrades or fails</a:t>
            </a:r>
            <a:endParaRPr lang="en-US" sz="1000" dirty="0"/>
          </a:p>
        </p:txBody>
      </p:sp>
      <p:sp>
        <p:nvSpPr>
          <p:cNvPr id="36" name="CBg4"/>
          <p:cNvSpPr/>
          <p:nvPr/>
        </p:nvSpPr>
        <p:spPr>
          <a:xfrm>
            <a:off x="365760" y="3860000"/>
            <a:ext cx="4100000" cy="480000"/>
          </a:xfrm>
          <a:prstGeom prst="rect">
            <a:avLst/>
          </a:prstGeom>
          <a:solidFill>
            <a:srgbClr val="EEF2F7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CBar4"/>
          <p:cNvSpPr/>
          <p:nvPr/>
        </p:nvSpPr>
        <p:spPr>
          <a:xfrm>
            <a:off x="365760" y="3860000"/>
            <a:ext cx="60000" cy="480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CTitle4"/>
          <p:cNvSpPr/>
          <p:nvPr/>
        </p:nvSpPr>
        <p:spPr>
          <a:xfrm>
            <a:off x="480000" y="3890000"/>
            <a:ext cx="39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Runbooks</a:t>
            </a:r>
            <a:endParaRPr lang="en-US" sz="1000" dirty="0"/>
          </a:p>
        </p:txBody>
      </p:sp>
      <p:sp>
        <p:nvSpPr>
          <p:cNvPr id="39" name="CDesc4"/>
          <p:cNvSpPr/>
          <p:nvPr/>
        </p:nvSpPr>
        <p:spPr>
          <a:xfrm>
            <a:off x="480000" y="4080000"/>
            <a:ext cx="39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failure scenarios documented with step-by-step remediation</a:t>
            </a:r>
            <a:endParaRPr lang="en-US" sz="1000" dirty="0"/>
          </a:p>
        </p:txBody>
      </p:sp>
      <p:sp>
        <p:nvSpPr>
          <p:cNvPr id="40" name="RHdr"/>
          <p:cNvSpPr/>
          <p:nvPr/>
        </p:nvSpPr>
        <p:spPr>
          <a:xfrm>
            <a:off x="4680000" y="1400000"/>
            <a:ext cx="3830000" cy="2800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HdrTxt"/>
          <p:cNvSpPr/>
          <p:nvPr/>
        </p:nvSpPr>
        <p:spPr>
          <a:xfrm>
            <a:off x="4740000" y="1430000"/>
            <a:ext cx="371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CRITICAL</a:t>
            </a:r>
            <a:endParaRPr lang="en-US" sz="1000" dirty="0"/>
          </a:p>
        </p:txBody>
      </p:sp>
      <p:sp>
        <p:nvSpPr>
          <p:cNvPr id="42" name="WhyBox"/>
          <p:cNvSpPr/>
          <p:nvPr/>
        </p:nvSpPr>
        <p:spPr>
          <a:xfrm>
            <a:off x="4680000" y="1740000"/>
            <a:ext cx="3830000" cy="1000000"/>
          </a:xfrm>
          <a:prstGeom prst="rect">
            <a:avLst/>
          </a:prstGeom>
          <a:solidFill>
            <a:srgbClr val="EEF2F7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WhyTxt"/>
          <p:cNvSpPr/>
          <p:nvPr/>
        </p:nvSpPr>
        <p:spPr>
          <a:xfrm>
            <a:off x="4740000" y="1760000"/>
            <a:ext cx="3710000" cy="9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sz="1000" i="1" dirty="0">
                <a:solidFill>
                  <a:srgbClr val="1F3864"/>
                </a:solidFill>
                <a:latin typeface="Calibri" pitchFamily="34" charset="0"/>
                <a:cs typeface="Calibri" pitchFamily="34" charset="-120"/>
              </a:rPr>
              <a:t>In large enterprises, the challenge is usually not defining SRE</a:t>
            </a:r>
            <a:r>
              <a:rPr lang="en-US" sz="10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GB" sz="1000" i="1" dirty="0">
                <a:solidFill>
                  <a:srgbClr val="1F3864"/>
                </a:solidFill>
                <a:latin typeface="Calibri" pitchFamily="34" charset="0"/>
                <a:cs typeface="Calibri" pitchFamily="34" charset="-120"/>
              </a:rPr>
              <a:t>but operationalising it consistently.</a:t>
            </a:r>
            <a:r>
              <a:rPr lang="en-US" sz="1000" i="1" dirty="0">
                <a:solidFill>
                  <a:srgbClr val="1F3864"/>
                </a:solidFill>
                <a:latin typeface="Calibri" pitchFamily="34" charset="0"/>
                <a:cs typeface="Calibri" pitchFamily="34" charset="-120"/>
              </a:rPr>
              <a:t>.</a:t>
            </a:r>
          </a:p>
        </p:txBody>
      </p:sp>
      <p:sp>
        <p:nvSpPr>
          <p:cNvPr id="44" name="ResHdr"/>
          <p:cNvSpPr/>
          <p:nvPr/>
        </p:nvSpPr>
        <p:spPr>
          <a:xfrm>
            <a:off x="4680000" y="2830000"/>
            <a:ext cx="3830000" cy="28000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sHdrTxt"/>
          <p:cNvSpPr/>
          <p:nvPr/>
        </p:nvSpPr>
        <p:spPr>
          <a:xfrm>
            <a:off x="4740000" y="2860000"/>
            <a:ext cx="371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CREATES</a:t>
            </a:r>
            <a:endParaRPr lang="en-US" sz="1000" dirty="0"/>
          </a:p>
        </p:txBody>
      </p:sp>
      <p:sp>
        <p:nvSpPr>
          <p:cNvPr id="50" name="ResBg0"/>
          <p:cNvSpPr/>
          <p:nvPr/>
        </p:nvSpPr>
        <p:spPr>
          <a:xfrm>
            <a:off x="4680000" y="3160000"/>
            <a:ext cx="3830000" cy="290000"/>
          </a:xfrm>
          <a:prstGeom prst="rect">
            <a:avLst/>
          </a:prstGeom>
          <a:solidFill>
            <a:srgbClr val="E2EFDA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ResTxt0"/>
          <p:cNvSpPr/>
          <p:nvPr/>
        </p:nvSpPr>
        <p:spPr>
          <a:xfrm>
            <a:off x="4740000" y="3190000"/>
            <a:ext cx="371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Consistent baseline across all critical services</a:t>
            </a:r>
            <a:endParaRPr lang="en-US" sz="1000" dirty="0"/>
          </a:p>
        </p:txBody>
      </p:sp>
      <p:sp>
        <p:nvSpPr>
          <p:cNvPr id="13" name="ResBg1"/>
          <p:cNvSpPr/>
          <p:nvPr/>
        </p:nvSpPr>
        <p:spPr>
          <a:xfrm>
            <a:off x="4680000" y="3500000"/>
            <a:ext cx="3830000" cy="290000"/>
          </a:xfrm>
          <a:prstGeom prst="rect">
            <a:avLst/>
          </a:prstGeom>
          <a:solidFill>
            <a:srgbClr val="E2EFDA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esTxt1"/>
          <p:cNvSpPr/>
          <p:nvPr/>
        </p:nvSpPr>
        <p:spPr>
          <a:xfrm>
            <a:off x="4740000" y="3530000"/>
            <a:ext cx="371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Teams know exactly what is expected — no ambiguity</a:t>
            </a:r>
            <a:endParaRPr lang="en-US" sz="1000" dirty="0"/>
          </a:p>
        </p:txBody>
      </p:sp>
      <p:sp>
        <p:nvSpPr>
          <p:cNvPr id="14" name="ResBg2"/>
          <p:cNvSpPr/>
          <p:nvPr/>
        </p:nvSpPr>
        <p:spPr>
          <a:xfrm>
            <a:off x="4680000" y="3840000"/>
            <a:ext cx="3830000" cy="290000"/>
          </a:xfrm>
          <a:prstGeom prst="rect">
            <a:avLst/>
          </a:prstGeom>
          <a:solidFill>
            <a:srgbClr val="E2EFDA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ResTxt2"/>
          <p:cNvSpPr/>
          <p:nvPr/>
        </p:nvSpPr>
        <p:spPr>
          <a:xfrm>
            <a:off x="4740000" y="3870000"/>
            <a:ext cx="371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Enables light governance without heavy compliance overhead</a:t>
            </a:r>
            <a:endParaRPr lang="en-US" sz="1000" dirty="0"/>
          </a:p>
        </p:txBody>
      </p:sp>
      <p:sp>
        <p:nvSpPr>
          <p:cNvPr id="15" name="ResBg3"/>
          <p:cNvSpPr/>
          <p:nvPr/>
        </p:nvSpPr>
        <p:spPr>
          <a:xfrm>
            <a:off x="4680000" y="4180000"/>
            <a:ext cx="3830000" cy="290000"/>
          </a:xfrm>
          <a:prstGeom prst="rect">
            <a:avLst/>
          </a:prstGeom>
          <a:solidFill>
            <a:srgbClr val="E2EFDA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ResTxt3"/>
          <p:cNvSpPr/>
          <p:nvPr/>
        </p:nvSpPr>
        <p:spPr>
          <a:xfrm>
            <a:off x="4740000" y="4210000"/>
            <a:ext cx="371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Foundation for the SRE scorecard and maturity tracking</a:t>
            </a:r>
            <a:endParaRPr lang="en-US" sz="1000" dirty="0"/>
          </a:p>
        </p:txBody>
      </p:sp>
      <p:sp>
        <p:nvSpPr>
          <p:cNvPr id="60" name="FootBg"/>
          <p:cNvSpPr/>
          <p:nvPr/>
        </p:nvSpPr>
        <p:spPr>
          <a:xfrm>
            <a:off x="365760" y="4510000"/>
            <a:ext cx="8412480" cy="370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FootTxt"/>
          <p:cNvSpPr/>
          <p:nvPr/>
        </p:nvSpPr>
        <p:spPr>
          <a:xfrm>
            <a:off x="502920" y="4546000"/>
            <a:ext cx="8229600" cy="29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exist but are not enforced — </a:t>
            </a: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most SRE programs fail. The contract closes that gap.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2920"/>
            <a:ext cx="914400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3  ·  ENABLEMENT IN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98348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Enablement Strategy  ·  Confidential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217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Enablement in Practice —</a:t>
            </a:r>
            <a:r>
              <a:rPr lang="en-US" sz="2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Documentation to Action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078992"/>
            <a:ext cx="8412480" cy="2286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ColHdr0"/>
          <p:cNvSpPr/>
          <p:nvPr/>
        </p:nvSpPr>
        <p:spPr>
          <a:xfrm>
            <a:off x="365760" y="1170000"/>
            <a:ext cx="2810000" cy="2800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ColHdrT0"/>
          <p:cNvSpPr/>
          <p:nvPr/>
        </p:nvSpPr>
        <p:spPr>
          <a:xfrm>
            <a:off x="415760" y="1200000"/>
            <a:ext cx="271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Embed + Coach</a:t>
            </a:r>
            <a:endParaRPr lang="en-US" sz="1000" dirty="0"/>
          </a:p>
        </p:txBody>
      </p:sp>
      <p:sp>
        <p:nvSpPr>
          <p:cNvPr id="12" name="NotBg0"/>
          <p:cNvSpPr/>
          <p:nvPr/>
        </p:nvSpPr>
        <p:spPr>
          <a:xfrm>
            <a:off x="365760" y="1500000"/>
            <a:ext cx="2810000" cy="200000"/>
          </a:xfrm>
          <a:prstGeom prst="rect">
            <a:avLst/>
          </a:prstGeom>
          <a:solidFill>
            <a:srgbClr val="FCE4D6"/>
          </a:solidFill>
          <a:ln w="12700">
            <a:solidFill>
              <a:srgbClr val="F4B9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NotTxt0"/>
          <p:cNvSpPr/>
          <p:nvPr/>
        </p:nvSpPr>
        <p:spPr>
          <a:xfrm>
            <a:off x="415760" y="1510000"/>
            <a:ext cx="2710000" cy="1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</a:t>
            </a:r>
            <a:r>
              <a:rPr lang="en-GB" sz="850" dirty="0">
                <a:solidFill>
                  <a:srgbClr val="C00000"/>
                </a:solidFill>
                <a:latin typeface="Calibri" pitchFamily="34" charset="0"/>
                <a:cs typeface="Calibri" pitchFamily="34" charset="-120"/>
              </a:rPr>
              <a:t>Documentation alone is not enough</a:t>
            </a:r>
            <a:endParaRPr lang="en-US" sz="850" dirty="0">
              <a:solidFill>
                <a:srgbClr val="C00000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14" name="DescBg0"/>
          <p:cNvSpPr/>
          <p:nvPr/>
        </p:nvSpPr>
        <p:spPr>
          <a:xfrm>
            <a:off x="365760" y="1720000"/>
            <a:ext cx="2810000" cy="700000"/>
          </a:xfrm>
          <a:prstGeom prst="rect">
            <a:avLst/>
          </a:prstGeom>
          <a:solidFill>
            <a:srgbClr val="EEF2F7"/>
          </a:solidFill>
          <a:ln w="12700">
            <a:solidFill>
              <a:srgbClr val="D6D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DescTxt0"/>
          <p:cNvSpPr/>
          <p:nvPr/>
        </p:nvSpPr>
        <p:spPr>
          <a:xfrm>
            <a:off x="415760" y="1740000"/>
            <a:ext cx="2710000" cy="6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one SRE into a team temporarily. Fix alerts, dashboards, SLOs, and runbooks. Then replicate patterns across the org.</a:t>
            </a:r>
            <a:endParaRPr lang="en-US" sz="1000" dirty="0"/>
          </a:p>
        </p:txBody>
      </p:sp>
      <p:sp>
        <p:nvSpPr>
          <p:cNvPr id="16" name="ExHdr0"/>
          <p:cNvSpPr/>
          <p:nvPr/>
        </p:nvSpPr>
        <p:spPr>
          <a:xfrm>
            <a:off x="365760" y="2470000"/>
            <a:ext cx="2810000" cy="2300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ExHdrT0"/>
          <p:cNvSpPr/>
          <p:nvPr/>
        </p:nvSpPr>
        <p:spPr>
          <a:xfrm>
            <a:off x="415760" y="2490000"/>
            <a:ext cx="2710000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18" name="ExBg0_0"/>
          <p:cNvSpPr/>
          <p:nvPr/>
        </p:nvSpPr>
        <p:spPr>
          <a:xfrm>
            <a:off x="365760" y="2750000"/>
            <a:ext cx="2810000" cy="300000"/>
          </a:xfrm>
          <a:prstGeom prst="rect">
            <a:avLst/>
          </a:prstGeom>
          <a:solidFill>
            <a:srgbClr val="EEF2F7"/>
          </a:solidFill>
          <a:ln w="12700">
            <a:solidFill>
              <a:srgbClr val="D6D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ExTxt0_0"/>
          <p:cNvSpPr/>
          <p:nvPr/>
        </p:nvSpPr>
        <p:spPr>
          <a:xfrm>
            <a:off x="415760" y="2780000"/>
            <a:ext cx="271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Fix noisy alerts</a:t>
            </a:r>
            <a:endParaRPr lang="en-US" sz="1000" dirty="0"/>
          </a:p>
        </p:txBody>
      </p:sp>
      <p:sp>
        <p:nvSpPr>
          <p:cNvPr id="68" name="ExBg0_1"/>
          <p:cNvSpPr/>
          <p:nvPr/>
        </p:nvSpPr>
        <p:spPr>
          <a:xfrm>
            <a:off x="365760" y="3090000"/>
            <a:ext cx="2810000" cy="300000"/>
          </a:xfrm>
          <a:prstGeom prst="rect">
            <a:avLst/>
          </a:prstGeom>
          <a:solidFill>
            <a:srgbClr val="EEF2F7"/>
          </a:solidFill>
          <a:ln w="12700">
            <a:solidFill>
              <a:srgbClr val="D6D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ExTxt0_1"/>
          <p:cNvSpPr/>
          <p:nvPr/>
        </p:nvSpPr>
        <p:spPr>
          <a:xfrm>
            <a:off x="415760" y="3120000"/>
            <a:ext cx="271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Tune SLO thresholds</a:t>
            </a:r>
            <a:endParaRPr lang="en-US" sz="1000" dirty="0"/>
          </a:p>
        </p:txBody>
      </p:sp>
      <p:sp>
        <p:nvSpPr>
          <p:cNvPr id="118" name="ExBg0_2"/>
          <p:cNvSpPr/>
          <p:nvPr/>
        </p:nvSpPr>
        <p:spPr>
          <a:xfrm>
            <a:off x="365760" y="3430000"/>
            <a:ext cx="2810000" cy="300000"/>
          </a:xfrm>
          <a:prstGeom prst="rect">
            <a:avLst/>
          </a:prstGeom>
          <a:solidFill>
            <a:srgbClr val="EEF2F7"/>
          </a:solidFill>
          <a:ln w="12700">
            <a:solidFill>
              <a:srgbClr val="D6D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ExTxt0_2"/>
          <p:cNvSpPr/>
          <p:nvPr/>
        </p:nvSpPr>
        <p:spPr>
          <a:xfrm>
            <a:off x="415760" y="3460000"/>
            <a:ext cx="271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Build dashboards</a:t>
            </a:r>
            <a:endParaRPr lang="en-US" sz="1000" dirty="0"/>
          </a:p>
        </p:txBody>
      </p:sp>
      <p:sp>
        <p:nvSpPr>
          <p:cNvPr id="168" name="ExBg0_3"/>
          <p:cNvSpPr/>
          <p:nvPr/>
        </p:nvSpPr>
        <p:spPr>
          <a:xfrm>
            <a:off x="365760" y="3770000"/>
            <a:ext cx="2810000" cy="300000"/>
          </a:xfrm>
          <a:prstGeom prst="rect">
            <a:avLst/>
          </a:prstGeom>
          <a:solidFill>
            <a:srgbClr val="EEF2F7"/>
          </a:solidFill>
          <a:ln w="12700">
            <a:solidFill>
              <a:srgbClr val="D6D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ExTxt0_3"/>
          <p:cNvSpPr/>
          <p:nvPr/>
        </p:nvSpPr>
        <p:spPr>
          <a:xfrm>
            <a:off x="415760" y="3800000"/>
            <a:ext cx="271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Document runbooks</a:t>
            </a:r>
            <a:endParaRPr lang="en-US" sz="1000" dirty="0"/>
          </a:p>
        </p:txBody>
      </p:sp>
      <p:sp>
        <p:nvSpPr>
          <p:cNvPr id="20" name="ColHdr1"/>
          <p:cNvSpPr/>
          <p:nvPr/>
        </p:nvSpPr>
        <p:spPr>
          <a:xfrm>
            <a:off x="3295760" y="1170000"/>
            <a:ext cx="2810000" cy="28000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ColHdrT1"/>
          <p:cNvSpPr/>
          <p:nvPr/>
        </p:nvSpPr>
        <p:spPr>
          <a:xfrm>
            <a:off x="3345760" y="1200000"/>
            <a:ext cx="271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Reliability Backlog</a:t>
            </a:r>
            <a:endParaRPr lang="en-US" sz="1000" dirty="0"/>
          </a:p>
        </p:txBody>
      </p:sp>
      <p:sp>
        <p:nvSpPr>
          <p:cNvPr id="22" name="NotBg1"/>
          <p:cNvSpPr/>
          <p:nvPr/>
        </p:nvSpPr>
        <p:spPr>
          <a:xfrm>
            <a:off x="3295760" y="1500000"/>
            <a:ext cx="2810000" cy="200000"/>
          </a:xfrm>
          <a:prstGeom prst="rect">
            <a:avLst/>
          </a:prstGeom>
          <a:solidFill>
            <a:srgbClr val="FCE4D6"/>
          </a:solidFill>
          <a:ln w="12700">
            <a:solidFill>
              <a:srgbClr val="F4B9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NotTxt1"/>
          <p:cNvSpPr/>
          <p:nvPr/>
        </p:nvSpPr>
        <p:spPr>
          <a:xfrm>
            <a:off x="3308411" y="1530000"/>
            <a:ext cx="2710000" cy="1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</a:t>
            </a:r>
            <a:r>
              <a:rPr lang="en-GB" sz="850" dirty="0">
                <a:solidFill>
                  <a:srgbClr val="C00000"/>
                </a:solidFill>
                <a:latin typeface="Calibri" pitchFamily="34" charset="0"/>
                <a:cs typeface="Calibri" pitchFamily="34" charset="-120"/>
              </a:rPr>
              <a:t>Reliability backlogs turn standards into delivery work</a:t>
            </a:r>
            <a:endParaRPr lang="en-US" sz="850" dirty="0">
              <a:solidFill>
                <a:srgbClr val="C00000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24" name="DescBg1"/>
          <p:cNvSpPr/>
          <p:nvPr/>
        </p:nvSpPr>
        <p:spPr>
          <a:xfrm>
            <a:off x="3295760" y="1720000"/>
            <a:ext cx="2810000" cy="700000"/>
          </a:xfrm>
          <a:prstGeom prst="rect">
            <a:avLst/>
          </a:prstGeom>
          <a:solidFill>
            <a:srgbClr val="EEF2F7"/>
          </a:solidFill>
          <a:ln w="12700">
            <a:solidFill>
              <a:srgbClr val="D6D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DescTxt1"/>
          <p:cNvSpPr/>
          <p:nvPr/>
        </p:nvSpPr>
        <p:spPr>
          <a:xfrm>
            <a:off x="3345760" y="1740000"/>
            <a:ext cx="2710000" cy="6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team maintains a reliability backlog — like technical debt. We help teams prioritise and track it sprint by sprint.</a:t>
            </a:r>
            <a:endParaRPr lang="en-US" sz="1000" dirty="0"/>
          </a:p>
        </p:txBody>
      </p:sp>
      <p:sp>
        <p:nvSpPr>
          <p:cNvPr id="26" name="ExHdr1"/>
          <p:cNvSpPr/>
          <p:nvPr/>
        </p:nvSpPr>
        <p:spPr>
          <a:xfrm>
            <a:off x="3295760" y="2470000"/>
            <a:ext cx="2810000" cy="23000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ExHdrT1"/>
          <p:cNvSpPr/>
          <p:nvPr/>
        </p:nvSpPr>
        <p:spPr>
          <a:xfrm>
            <a:off x="3345760" y="2490000"/>
            <a:ext cx="2710000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28" name="ExBg1_0"/>
          <p:cNvSpPr/>
          <p:nvPr/>
        </p:nvSpPr>
        <p:spPr>
          <a:xfrm>
            <a:off x="3295760" y="2750000"/>
            <a:ext cx="2810000" cy="300000"/>
          </a:xfrm>
          <a:prstGeom prst="rect">
            <a:avLst/>
          </a:prstGeom>
          <a:solidFill>
            <a:srgbClr val="E2EFDA"/>
          </a:solidFill>
          <a:ln w="12700">
            <a:solidFill>
              <a:srgbClr val="D6D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ExTxt1_0"/>
          <p:cNvSpPr/>
          <p:nvPr/>
        </p:nvSpPr>
        <p:spPr>
          <a:xfrm>
            <a:off x="3345760" y="2780000"/>
            <a:ext cx="271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Fix noisy alerts</a:t>
            </a:r>
            <a:endParaRPr lang="en-US" sz="1000" dirty="0"/>
          </a:p>
        </p:txBody>
      </p:sp>
      <p:sp>
        <p:nvSpPr>
          <p:cNvPr id="78" name="ExBg1_1"/>
          <p:cNvSpPr/>
          <p:nvPr/>
        </p:nvSpPr>
        <p:spPr>
          <a:xfrm>
            <a:off x="3295760" y="3090000"/>
            <a:ext cx="2810000" cy="300000"/>
          </a:xfrm>
          <a:prstGeom prst="rect">
            <a:avLst/>
          </a:prstGeom>
          <a:solidFill>
            <a:srgbClr val="E2EFDA"/>
          </a:solidFill>
          <a:ln w="12700">
            <a:solidFill>
              <a:srgbClr val="D6D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ExTxt1_1"/>
          <p:cNvSpPr/>
          <p:nvPr/>
        </p:nvSpPr>
        <p:spPr>
          <a:xfrm>
            <a:off x="3345760" y="3120000"/>
            <a:ext cx="271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Define SLOs</a:t>
            </a:r>
            <a:endParaRPr lang="en-US" sz="1000" dirty="0"/>
          </a:p>
        </p:txBody>
      </p:sp>
      <p:sp>
        <p:nvSpPr>
          <p:cNvPr id="128" name="ExBg1_2"/>
          <p:cNvSpPr/>
          <p:nvPr/>
        </p:nvSpPr>
        <p:spPr>
          <a:xfrm>
            <a:off x="3295760" y="3430000"/>
            <a:ext cx="2810000" cy="300000"/>
          </a:xfrm>
          <a:prstGeom prst="rect">
            <a:avLst/>
          </a:prstGeom>
          <a:solidFill>
            <a:srgbClr val="E2EFDA"/>
          </a:solidFill>
          <a:ln w="12700">
            <a:solidFill>
              <a:srgbClr val="D6D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ExTxt1_2"/>
          <p:cNvSpPr/>
          <p:nvPr/>
        </p:nvSpPr>
        <p:spPr>
          <a:xfrm>
            <a:off x="3345760" y="3460000"/>
            <a:ext cx="271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Automate manual processes</a:t>
            </a:r>
            <a:endParaRPr lang="en-US" sz="1000" dirty="0"/>
          </a:p>
        </p:txBody>
      </p:sp>
      <p:sp>
        <p:nvSpPr>
          <p:cNvPr id="178" name="ExBg1_3"/>
          <p:cNvSpPr/>
          <p:nvPr/>
        </p:nvSpPr>
        <p:spPr>
          <a:xfrm>
            <a:off x="3295760" y="3770000"/>
            <a:ext cx="2810000" cy="300000"/>
          </a:xfrm>
          <a:prstGeom prst="rect">
            <a:avLst/>
          </a:prstGeom>
          <a:solidFill>
            <a:srgbClr val="E2EFDA"/>
          </a:solidFill>
          <a:ln w="12700">
            <a:solidFill>
              <a:srgbClr val="D6D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ExTxt1_3"/>
          <p:cNvSpPr/>
          <p:nvPr/>
        </p:nvSpPr>
        <p:spPr>
          <a:xfrm>
            <a:off x="3345760" y="3800000"/>
            <a:ext cx="271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Improve dashboards</a:t>
            </a:r>
            <a:endParaRPr lang="en-US" sz="1000" dirty="0"/>
          </a:p>
        </p:txBody>
      </p:sp>
      <p:sp>
        <p:nvSpPr>
          <p:cNvPr id="30" name="ColHdr2"/>
          <p:cNvSpPr/>
          <p:nvPr/>
        </p:nvSpPr>
        <p:spPr>
          <a:xfrm>
            <a:off x="6225760" y="1170000"/>
            <a:ext cx="2810000" cy="280000"/>
          </a:xfrm>
          <a:prstGeom prst="rect">
            <a:avLst/>
          </a:prstGeom>
          <a:solidFill>
            <a:srgbClr val="7F6000"/>
          </a:solidFill>
          <a:ln w="12700">
            <a:solidFill>
              <a:srgbClr val="7F6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ColHdrT2"/>
          <p:cNvSpPr/>
          <p:nvPr/>
        </p:nvSpPr>
        <p:spPr>
          <a:xfrm>
            <a:off x="6275760" y="1200000"/>
            <a:ext cx="271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Toil Reduction Program</a:t>
            </a:r>
            <a:endParaRPr lang="en-US" sz="1000" dirty="0"/>
          </a:p>
        </p:txBody>
      </p:sp>
      <p:sp>
        <p:nvSpPr>
          <p:cNvPr id="32" name="NotBg2"/>
          <p:cNvSpPr/>
          <p:nvPr/>
        </p:nvSpPr>
        <p:spPr>
          <a:xfrm>
            <a:off x="6225760" y="1500000"/>
            <a:ext cx="2810000" cy="200000"/>
          </a:xfrm>
          <a:prstGeom prst="rect">
            <a:avLst/>
          </a:prstGeom>
          <a:solidFill>
            <a:srgbClr val="FCE4D6"/>
          </a:solidFill>
          <a:ln w="12700">
            <a:solidFill>
              <a:srgbClr val="F4B9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NotTxt2"/>
          <p:cNvSpPr/>
          <p:nvPr/>
        </p:nvSpPr>
        <p:spPr>
          <a:xfrm>
            <a:off x="6275760" y="1510000"/>
            <a:ext cx="2710000" cy="1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</a:t>
            </a:r>
            <a:r>
              <a:rPr lang="en-GB" sz="850" dirty="0">
                <a:solidFill>
                  <a:srgbClr val="C00000"/>
                </a:solidFill>
                <a:latin typeface="Calibri" pitchFamily="34" charset="0"/>
                <a:cs typeface="Calibri" pitchFamily="34" charset="-120"/>
              </a:rPr>
              <a:t>Toil reduction creates visible operational value</a:t>
            </a:r>
            <a:endParaRPr lang="en-US" sz="850" dirty="0">
              <a:solidFill>
                <a:srgbClr val="C00000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34" name="DescBg2"/>
          <p:cNvSpPr/>
          <p:nvPr/>
        </p:nvSpPr>
        <p:spPr>
          <a:xfrm>
            <a:off x="6225760" y="1720000"/>
            <a:ext cx="2810000" cy="700000"/>
          </a:xfrm>
          <a:prstGeom prst="rect">
            <a:avLst/>
          </a:prstGeom>
          <a:solidFill>
            <a:srgbClr val="EEF2F7"/>
          </a:solidFill>
          <a:ln w="12700">
            <a:solidFill>
              <a:srgbClr val="D6D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DescTxt2"/>
          <p:cNvSpPr/>
          <p:nvPr/>
        </p:nvSpPr>
        <p:spPr>
          <a:xfrm>
            <a:off x="6275760" y="1740000"/>
            <a:ext cx="2710000" cy="6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 repetitive manual tasks, quantify engineering time lost, automate. Gives immediate, visible value.</a:t>
            </a:r>
            <a:endParaRPr lang="en-US" sz="1000" dirty="0"/>
          </a:p>
        </p:txBody>
      </p:sp>
      <p:sp>
        <p:nvSpPr>
          <p:cNvPr id="36" name="ExHdr2"/>
          <p:cNvSpPr/>
          <p:nvPr/>
        </p:nvSpPr>
        <p:spPr>
          <a:xfrm>
            <a:off x="6225760" y="2470000"/>
            <a:ext cx="2810000" cy="230000"/>
          </a:xfrm>
          <a:prstGeom prst="rect">
            <a:avLst/>
          </a:prstGeom>
          <a:solidFill>
            <a:srgbClr val="7F6000"/>
          </a:solidFill>
          <a:ln w="12700">
            <a:solidFill>
              <a:srgbClr val="7F6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ExHdrT2"/>
          <p:cNvSpPr/>
          <p:nvPr/>
        </p:nvSpPr>
        <p:spPr>
          <a:xfrm>
            <a:off x="6275760" y="2490000"/>
            <a:ext cx="2710000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38" name="ExBg2_0"/>
          <p:cNvSpPr/>
          <p:nvPr/>
        </p:nvSpPr>
        <p:spPr>
          <a:xfrm>
            <a:off x="6225760" y="2750000"/>
            <a:ext cx="2810000" cy="300000"/>
          </a:xfrm>
          <a:prstGeom prst="rect">
            <a:avLst/>
          </a:prstGeom>
          <a:solidFill>
            <a:srgbClr val="FFF2CC"/>
          </a:solidFill>
          <a:ln w="12700">
            <a:solidFill>
              <a:srgbClr val="D6D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ExTxt2_0"/>
          <p:cNvSpPr/>
          <p:nvPr/>
        </p:nvSpPr>
        <p:spPr>
          <a:xfrm>
            <a:off x="6275760" y="2780000"/>
            <a:ext cx="271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Identify top 10 toil tasks</a:t>
            </a:r>
            <a:endParaRPr lang="en-US" sz="1000" dirty="0"/>
          </a:p>
        </p:txBody>
      </p:sp>
      <p:sp>
        <p:nvSpPr>
          <p:cNvPr id="88" name="ExBg2_1"/>
          <p:cNvSpPr/>
          <p:nvPr/>
        </p:nvSpPr>
        <p:spPr>
          <a:xfrm>
            <a:off x="6225760" y="3090000"/>
            <a:ext cx="2810000" cy="300000"/>
          </a:xfrm>
          <a:prstGeom prst="rect">
            <a:avLst/>
          </a:prstGeom>
          <a:solidFill>
            <a:srgbClr val="FFF2CC"/>
          </a:solidFill>
          <a:ln w="12700">
            <a:solidFill>
              <a:srgbClr val="D6D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ExTxt2_1"/>
          <p:cNvSpPr/>
          <p:nvPr/>
        </p:nvSpPr>
        <p:spPr>
          <a:xfrm>
            <a:off x="6275760" y="3120000"/>
            <a:ext cx="271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Quantify hours per week</a:t>
            </a:r>
            <a:endParaRPr lang="en-US" sz="1000" dirty="0"/>
          </a:p>
        </p:txBody>
      </p:sp>
      <p:sp>
        <p:nvSpPr>
          <p:cNvPr id="138" name="ExBg2_2"/>
          <p:cNvSpPr/>
          <p:nvPr/>
        </p:nvSpPr>
        <p:spPr>
          <a:xfrm>
            <a:off x="6225760" y="3430000"/>
            <a:ext cx="2810000" cy="300000"/>
          </a:xfrm>
          <a:prstGeom prst="rect">
            <a:avLst/>
          </a:prstGeom>
          <a:solidFill>
            <a:srgbClr val="FFF2CC"/>
          </a:solidFill>
          <a:ln w="12700">
            <a:solidFill>
              <a:srgbClr val="D6D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ExTxt2_2"/>
          <p:cNvSpPr/>
          <p:nvPr/>
        </p:nvSpPr>
        <p:spPr>
          <a:xfrm>
            <a:off x="6275760" y="3460000"/>
            <a:ext cx="271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Automate each one</a:t>
            </a:r>
            <a:endParaRPr lang="en-US" sz="1000" dirty="0"/>
          </a:p>
        </p:txBody>
      </p:sp>
      <p:sp>
        <p:nvSpPr>
          <p:cNvPr id="188" name="ExBg2_3"/>
          <p:cNvSpPr/>
          <p:nvPr/>
        </p:nvSpPr>
        <p:spPr>
          <a:xfrm>
            <a:off x="6225760" y="3770000"/>
            <a:ext cx="2810000" cy="300000"/>
          </a:xfrm>
          <a:prstGeom prst="rect">
            <a:avLst/>
          </a:prstGeom>
          <a:solidFill>
            <a:srgbClr val="FFF2CC"/>
          </a:solidFill>
          <a:ln w="12700">
            <a:solidFill>
              <a:srgbClr val="D6D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9" name="ExTxt2_3"/>
          <p:cNvSpPr/>
          <p:nvPr/>
        </p:nvSpPr>
        <p:spPr>
          <a:xfrm>
            <a:off x="6275760" y="3800000"/>
            <a:ext cx="271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Track time recovered</a:t>
            </a:r>
            <a:endParaRPr lang="en-US" sz="1000" dirty="0"/>
          </a:p>
        </p:txBody>
      </p:sp>
      <p:sp>
        <p:nvSpPr>
          <p:cNvPr id="90" name="ResBg"/>
          <p:cNvSpPr/>
          <p:nvPr/>
        </p:nvSpPr>
        <p:spPr>
          <a:xfrm>
            <a:off x="365760" y="4090000"/>
            <a:ext cx="8412480" cy="320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ResTxt"/>
          <p:cNvSpPr/>
          <p:nvPr/>
        </p:nvSpPr>
        <p:spPr>
          <a:xfrm>
            <a:off x="502920" y="4120000"/>
            <a:ext cx="82296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shift: from central SRE publishing documents  →  central SRE embedding, fixing, and replicating patterns at team level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2920"/>
            <a:ext cx="9144000" cy="5486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4  ·  INCIDENT EXCELLENCE + GOLDEN PATHS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98348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Enablement Strategy  ·  Confidential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217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Incident Excellence —</a:t>
            </a:r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High ROI, Visible Impact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078992"/>
            <a:ext cx="8412480" cy="2286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Hdr"/>
          <p:cNvSpPr/>
          <p:nvPr/>
        </p:nvSpPr>
        <p:spPr>
          <a:xfrm>
            <a:off x="365760" y="1170000"/>
            <a:ext cx="4100000" cy="2800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HdrTxt"/>
          <p:cNvSpPr/>
          <p:nvPr/>
        </p:nvSpPr>
        <p:spPr>
          <a:xfrm>
            <a:off x="420000" y="1200000"/>
            <a:ext cx="399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EXCELLENCE MODEL</a:t>
            </a:r>
            <a:endParaRPr lang="en-US" sz="1000" dirty="0"/>
          </a:p>
        </p:txBody>
      </p:sp>
      <p:sp>
        <p:nvSpPr>
          <p:cNvPr id="20" name="IncBg0"/>
          <p:cNvSpPr/>
          <p:nvPr/>
        </p:nvSpPr>
        <p:spPr>
          <a:xfrm>
            <a:off x="365760" y="1500000"/>
            <a:ext cx="4100000" cy="480000"/>
          </a:xfrm>
          <a:prstGeom prst="rect">
            <a:avLst/>
          </a:prstGeom>
          <a:solidFill>
            <a:srgbClr val="FCE4D6"/>
          </a:solidFill>
          <a:ln w="12700">
            <a:solidFill>
              <a:srgbClr val="F4B9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IncBar0"/>
          <p:cNvSpPr/>
          <p:nvPr/>
        </p:nvSpPr>
        <p:spPr>
          <a:xfrm>
            <a:off x="365760" y="1500000"/>
            <a:ext cx="60000" cy="4800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IncTitle0"/>
          <p:cNvSpPr/>
          <p:nvPr/>
        </p:nvSpPr>
        <p:spPr>
          <a:xfrm>
            <a:off x="480000" y="1530000"/>
            <a:ext cx="39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Severity Model</a:t>
            </a:r>
            <a:endParaRPr lang="en-US" sz="1000" dirty="0"/>
          </a:p>
        </p:txBody>
      </p:sp>
      <p:sp>
        <p:nvSpPr>
          <p:cNvPr id="23" name="IncDesc0"/>
          <p:cNvSpPr/>
          <p:nvPr/>
        </p:nvSpPr>
        <p:spPr>
          <a:xfrm>
            <a:off x="480000" y="1720000"/>
            <a:ext cx="39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P1–P4 definitions applied across all teams and services</a:t>
            </a:r>
            <a:endParaRPr lang="en-US" sz="1000" dirty="0"/>
          </a:p>
        </p:txBody>
      </p:sp>
      <p:sp>
        <p:nvSpPr>
          <p:cNvPr id="24" name="IncBg1"/>
          <p:cNvSpPr/>
          <p:nvPr/>
        </p:nvSpPr>
        <p:spPr>
          <a:xfrm>
            <a:off x="365760" y="2030000"/>
            <a:ext cx="4100000" cy="480000"/>
          </a:xfrm>
          <a:prstGeom prst="rect">
            <a:avLst/>
          </a:prstGeom>
          <a:solidFill>
            <a:srgbClr val="FCE4D6"/>
          </a:solidFill>
          <a:ln w="12700">
            <a:solidFill>
              <a:srgbClr val="F4B9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IncBar1"/>
          <p:cNvSpPr/>
          <p:nvPr/>
        </p:nvSpPr>
        <p:spPr>
          <a:xfrm>
            <a:off x="365760" y="2030000"/>
            <a:ext cx="60000" cy="4800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IncTitle1"/>
          <p:cNvSpPr/>
          <p:nvPr/>
        </p:nvSpPr>
        <p:spPr>
          <a:xfrm>
            <a:off x="480000" y="2060000"/>
            <a:ext cx="39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Postmortems</a:t>
            </a:r>
            <a:endParaRPr lang="en-US" sz="1000" dirty="0"/>
          </a:p>
        </p:txBody>
      </p:sp>
      <p:sp>
        <p:nvSpPr>
          <p:cNvPr id="27" name="IncDesc1"/>
          <p:cNvSpPr/>
          <p:nvPr/>
        </p:nvSpPr>
        <p:spPr>
          <a:xfrm>
            <a:off x="480000" y="2250000"/>
            <a:ext cx="39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root-cause analysis — not compliance documents or tick-boxes</a:t>
            </a:r>
            <a:endParaRPr lang="en-US" sz="1000" dirty="0"/>
          </a:p>
        </p:txBody>
      </p:sp>
      <p:sp>
        <p:nvSpPr>
          <p:cNvPr id="28" name="IncBg2"/>
          <p:cNvSpPr/>
          <p:nvPr/>
        </p:nvSpPr>
        <p:spPr>
          <a:xfrm>
            <a:off x="365760" y="2560000"/>
            <a:ext cx="4100000" cy="480000"/>
          </a:xfrm>
          <a:prstGeom prst="rect">
            <a:avLst/>
          </a:prstGeom>
          <a:solidFill>
            <a:srgbClr val="FCE4D6"/>
          </a:solidFill>
          <a:ln w="12700">
            <a:solidFill>
              <a:srgbClr val="F4B9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IncBar2"/>
          <p:cNvSpPr/>
          <p:nvPr/>
        </p:nvSpPr>
        <p:spPr>
          <a:xfrm>
            <a:off x="365760" y="2560000"/>
            <a:ext cx="60000" cy="4800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IncTitle2"/>
          <p:cNvSpPr/>
          <p:nvPr/>
        </p:nvSpPr>
        <p:spPr>
          <a:xfrm>
            <a:off x="480000" y="2590000"/>
            <a:ext cx="39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Tracking</a:t>
            </a:r>
            <a:endParaRPr lang="en-US" sz="1000" dirty="0"/>
          </a:p>
        </p:txBody>
      </p:sp>
      <p:sp>
        <p:nvSpPr>
          <p:cNvPr id="31" name="IncDesc2"/>
          <p:cNvSpPr/>
          <p:nvPr/>
        </p:nvSpPr>
        <p:spPr>
          <a:xfrm>
            <a:off x="480000" y="2780000"/>
            <a:ext cx="39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postmortem produces tracked actions with owners and due dates</a:t>
            </a:r>
            <a:endParaRPr lang="en-US" sz="1000" dirty="0"/>
          </a:p>
        </p:txBody>
      </p:sp>
      <p:sp>
        <p:nvSpPr>
          <p:cNvPr id="32" name="IncBg3"/>
          <p:cNvSpPr/>
          <p:nvPr/>
        </p:nvSpPr>
        <p:spPr>
          <a:xfrm>
            <a:off x="365760" y="3090000"/>
            <a:ext cx="4100000" cy="480000"/>
          </a:xfrm>
          <a:prstGeom prst="rect">
            <a:avLst/>
          </a:prstGeom>
          <a:solidFill>
            <a:srgbClr val="FCE4D6"/>
          </a:solidFill>
          <a:ln w="12700">
            <a:solidFill>
              <a:srgbClr val="F4B9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IncBar3"/>
          <p:cNvSpPr/>
          <p:nvPr/>
        </p:nvSpPr>
        <p:spPr>
          <a:xfrm>
            <a:off x="365760" y="3090000"/>
            <a:ext cx="60000" cy="4800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IncTitle3"/>
          <p:cNvSpPr/>
          <p:nvPr/>
        </p:nvSpPr>
        <p:spPr>
          <a:xfrm>
            <a:off x="480000" y="3120000"/>
            <a:ext cx="39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Incident Elimination</a:t>
            </a:r>
            <a:endParaRPr lang="en-US" sz="1000" dirty="0"/>
          </a:p>
        </p:txBody>
      </p:sp>
      <p:sp>
        <p:nvSpPr>
          <p:cNvPr id="35" name="IncDesc3"/>
          <p:cNvSpPr/>
          <p:nvPr/>
        </p:nvSpPr>
        <p:spPr>
          <a:xfrm>
            <a:off x="480000" y="3310000"/>
            <a:ext cx="39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repeat incidents. If it happens twice, it must be automated or prevented.</a:t>
            </a:r>
            <a:endParaRPr lang="en-US" sz="1000" dirty="0"/>
          </a:p>
        </p:txBody>
      </p:sp>
      <p:sp>
        <p:nvSpPr>
          <p:cNvPr id="40" name="RHdr"/>
          <p:cNvSpPr/>
          <p:nvPr/>
        </p:nvSpPr>
        <p:spPr>
          <a:xfrm>
            <a:off x="4680000" y="1170000"/>
            <a:ext cx="3830000" cy="280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HdrTxt"/>
          <p:cNvSpPr/>
          <p:nvPr/>
        </p:nvSpPr>
        <p:spPr>
          <a:xfrm>
            <a:off x="4740000" y="1200000"/>
            <a:ext cx="371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🛤️  GOLDEN PATHS</a:t>
            </a:r>
            <a:endParaRPr lang="en-US" sz="1000" dirty="0"/>
          </a:p>
        </p:txBody>
      </p:sp>
      <p:sp>
        <p:nvSpPr>
          <p:cNvPr id="42" name="GPIntro"/>
          <p:cNvSpPr/>
          <p:nvPr/>
        </p:nvSpPr>
        <p:spPr>
          <a:xfrm>
            <a:off x="4740000" y="1500000"/>
            <a:ext cx="371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telling teams what to do, provide ready-to-use reference implementations:</a:t>
            </a:r>
            <a:endParaRPr lang="en-US" sz="1000" dirty="0"/>
          </a:p>
        </p:txBody>
      </p:sp>
      <p:sp>
        <p:nvSpPr>
          <p:cNvPr id="50" name="GPBg0"/>
          <p:cNvSpPr/>
          <p:nvPr/>
        </p:nvSpPr>
        <p:spPr>
          <a:xfrm>
            <a:off x="4680000" y="1870000"/>
            <a:ext cx="3830000" cy="390000"/>
          </a:xfrm>
          <a:prstGeom prst="rect">
            <a:avLst/>
          </a:prstGeom>
          <a:solidFill>
            <a:srgbClr val="EEF2F7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GPBar0"/>
          <p:cNvSpPr/>
          <p:nvPr/>
        </p:nvSpPr>
        <p:spPr>
          <a:xfrm>
            <a:off x="4680000" y="1870000"/>
            <a:ext cx="50000" cy="3900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GPTitle0"/>
          <p:cNvSpPr/>
          <p:nvPr/>
        </p:nvSpPr>
        <p:spPr>
          <a:xfrm>
            <a:off x="4790000" y="1900000"/>
            <a:ext cx="360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 Templates</a:t>
            </a:r>
            <a:endParaRPr lang="en-US" sz="1000" dirty="0"/>
          </a:p>
        </p:txBody>
      </p:sp>
      <p:sp>
        <p:nvSpPr>
          <p:cNvPr id="53" name="GPDesc0"/>
          <p:cNvSpPr/>
          <p:nvPr/>
        </p:nvSpPr>
        <p:spPr>
          <a:xfrm>
            <a:off x="4790000" y="2060000"/>
            <a:ext cx="3600000" cy="1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SLO definitions for common service types</a:t>
            </a:r>
            <a:endParaRPr lang="en-US" sz="1000" dirty="0"/>
          </a:p>
        </p:txBody>
      </p:sp>
      <p:sp>
        <p:nvSpPr>
          <p:cNvPr id="12" name="GPBg1"/>
          <p:cNvSpPr/>
          <p:nvPr/>
        </p:nvSpPr>
        <p:spPr>
          <a:xfrm>
            <a:off x="4680000" y="2310000"/>
            <a:ext cx="3830000" cy="390000"/>
          </a:xfrm>
          <a:prstGeom prst="rect">
            <a:avLst/>
          </a:prstGeom>
          <a:solidFill>
            <a:srgbClr val="EEF2F7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GPBar1"/>
          <p:cNvSpPr/>
          <p:nvPr/>
        </p:nvSpPr>
        <p:spPr>
          <a:xfrm>
            <a:off x="4680000" y="2310000"/>
            <a:ext cx="50000" cy="3900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GPTitle1"/>
          <p:cNvSpPr/>
          <p:nvPr/>
        </p:nvSpPr>
        <p:spPr>
          <a:xfrm>
            <a:off x="4790000" y="2340000"/>
            <a:ext cx="360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Templates</a:t>
            </a:r>
            <a:endParaRPr lang="en-US" sz="1000" dirty="0"/>
          </a:p>
        </p:txBody>
      </p:sp>
      <p:sp>
        <p:nvSpPr>
          <p:cNvPr id="56" name="GPDesc1"/>
          <p:cNvSpPr/>
          <p:nvPr/>
        </p:nvSpPr>
        <p:spPr>
          <a:xfrm>
            <a:off x="4790000" y="2500000"/>
            <a:ext cx="3600000" cy="1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observability dashboards — plug in metrics, go</a:t>
            </a:r>
            <a:endParaRPr lang="en-US" sz="1000" dirty="0"/>
          </a:p>
        </p:txBody>
      </p:sp>
      <p:sp>
        <p:nvSpPr>
          <p:cNvPr id="13" name="GPBg2"/>
          <p:cNvSpPr/>
          <p:nvPr/>
        </p:nvSpPr>
        <p:spPr>
          <a:xfrm>
            <a:off x="4680000" y="2750000"/>
            <a:ext cx="3830000" cy="390000"/>
          </a:xfrm>
          <a:prstGeom prst="rect">
            <a:avLst/>
          </a:prstGeom>
          <a:solidFill>
            <a:srgbClr val="EEF2F7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GPBar2"/>
          <p:cNvSpPr/>
          <p:nvPr/>
        </p:nvSpPr>
        <p:spPr>
          <a:xfrm>
            <a:off x="4680000" y="2750000"/>
            <a:ext cx="50000" cy="3900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GPTitle2"/>
          <p:cNvSpPr/>
          <p:nvPr/>
        </p:nvSpPr>
        <p:spPr>
          <a:xfrm>
            <a:off x="4790000" y="2780000"/>
            <a:ext cx="360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Configurations</a:t>
            </a:r>
            <a:endParaRPr lang="en-US" sz="1000" dirty="0"/>
          </a:p>
        </p:txBody>
      </p:sp>
      <p:sp>
        <p:nvSpPr>
          <p:cNvPr id="59" name="GPDesc2"/>
          <p:cNvSpPr/>
          <p:nvPr/>
        </p:nvSpPr>
        <p:spPr>
          <a:xfrm>
            <a:off x="4790000" y="2940000"/>
            <a:ext cx="3600000" cy="1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Pre-tuned alert rules — signal over noise out of the box</a:t>
            </a:r>
            <a:endParaRPr lang="en-US" sz="1000" dirty="0"/>
          </a:p>
        </p:txBody>
      </p:sp>
      <p:sp>
        <p:nvSpPr>
          <p:cNvPr id="14" name="GPBg3"/>
          <p:cNvSpPr/>
          <p:nvPr/>
        </p:nvSpPr>
        <p:spPr>
          <a:xfrm>
            <a:off x="4680000" y="3190000"/>
            <a:ext cx="3830000" cy="390000"/>
          </a:xfrm>
          <a:prstGeom prst="rect">
            <a:avLst/>
          </a:prstGeom>
          <a:solidFill>
            <a:srgbClr val="EEF2F7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GPBar3"/>
          <p:cNvSpPr/>
          <p:nvPr/>
        </p:nvSpPr>
        <p:spPr>
          <a:xfrm>
            <a:off x="4680000" y="3190000"/>
            <a:ext cx="50000" cy="3900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GPTitle3"/>
          <p:cNvSpPr/>
          <p:nvPr/>
        </p:nvSpPr>
        <p:spPr>
          <a:xfrm>
            <a:off x="4790000" y="3220000"/>
            <a:ext cx="360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 Formats</a:t>
            </a:r>
            <a:endParaRPr lang="en-US" sz="1000" dirty="0"/>
          </a:p>
        </p:txBody>
      </p:sp>
      <p:sp>
        <p:nvSpPr>
          <p:cNvPr id="62" name="GPDesc3"/>
          <p:cNvSpPr/>
          <p:nvPr/>
        </p:nvSpPr>
        <p:spPr>
          <a:xfrm>
            <a:off x="4790000" y="3380000"/>
            <a:ext cx="3600000" cy="1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runbook templates for top failure scenarios</a:t>
            </a:r>
            <a:endParaRPr lang="en-US" sz="1000" dirty="0"/>
          </a:p>
        </p:txBody>
      </p:sp>
      <p:sp>
        <p:nvSpPr>
          <p:cNvPr id="15" name="GPBg4"/>
          <p:cNvSpPr/>
          <p:nvPr/>
        </p:nvSpPr>
        <p:spPr>
          <a:xfrm>
            <a:off x="4680000" y="3630000"/>
            <a:ext cx="3830000" cy="390000"/>
          </a:xfrm>
          <a:prstGeom prst="rect">
            <a:avLst/>
          </a:prstGeom>
          <a:solidFill>
            <a:srgbClr val="EEF2F7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GPBar4"/>
          <p:cNvSpPr/>
          <p:nvPr/>
        </p:nvSpPr>
        <p:spPr>
          <a:xfrm>
            <a:off x="4680000" y="3630000"/>
            <a:ext cx="50000" cy="3900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GPTitle4"/>
          <p:cNvSpPr/>
          <p:nvPr/>
        </p:nvSpPr>
        <p:spPr>
          <a:xfrm>
            <a:off x="4790000" y="3660000"/>
            <a:ext cx="360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Reliability Gates</a:t>
            </a:r>
            <a:endParaRPr lang="en-US" sz="1000" dirty="0"/>
          </a:p>
        </p:txBody>
      </p:sp>
      <p:sp>
        <p:nvSpPr>
          <p:cNvPr id="65" name="GPDesc4"/>
          <p:cNvSpPr/>
          <p:nvPr/>
        </p:nvSpPr>
        <p:spPr>
          <a:xfrm>
            <a:off x="4790000" y="3820000"/>
            <a:ext cx="3600000" cy="1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quality gates — block on SLO-breaking changes</a:t>
            </a:r>
            <a:endParaRPr lang="en-US" sz="1000" dirty="0"/>
          </a:p>
        </p:txBody>
      </p:sp>
      <p:sp>
        <p:nvSpPr>
          <p:cNvPr id="70" name="FootBg"/>
          <p:cNvSpPr/>
          <p:nvPr/>
        </p:nvSpPr>
        <p:spPr>
          <a:xfrm>
            <a:off x="365760" y="4510000"/>
            <a:ext cx="8412480" cy="360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FootTxt"/>
          <p:cNvSpPr/>
          <p:nvPr/>
        </p:nvSpPr>
        <p:spPr>
          <a:xfrm>
            <a:off x="502920" y="4546000"/>
            <a:ext cx="82296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excellence + golden paths = reduced friction + faster team adoption + measurable reliability improvement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2920"/>
            <a:ext cx="9144000" cy="54864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5  ·  GOVERNANCE WITHOUT BUREAUCRACY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98348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Enablement Strategy  ·  Confidential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217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</a:t>
            </a:r>
            <a:r>
              <a:rPr lang="en-GB" sz="2400" b="1" dirty="0">
                <a:solidFill>
                  <a:srgbClr val="1F3864"/>
                </a:solidFill>
                <a:latin typeface="Calibri" pitchFamily="34" charset="0"/>
                <a:cs typeface="Calibri" pitchFamily="34" charset="-120"/>
              </a:rPr>
              <a:t>Practical Governance and Continuous Review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078992"/>
            <a:ext cx="8412480" cy="2286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GHdr"/>
          <p:cNvSpPr/>
          <p:nvPr/>
        </p:nvSpPr>
        <p:spPr>
          <a:xfrm>
            <a:off x="365760" y="1170000"/>
            <a:ext cx="5500000" cy="28000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GHdrTxt"/>
          <p:cNvSpPr/>
          <p:nvPr/>
        </p:nvSpPr>
        <p:spPr>
          <a:xfrm>
            <a:off x="420000" y="1200000"/>
            <a:ext cx="538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RHYTHM</a:t>
            </a:r>
            <a:endParaRPr lang="en-US" sz="1000" dirty="0"/>
          </a:p>
        </p:txBody>
      </p:sp>
      <p:sp>
        <p:nvSpPr>
          <p:cNvPr id="20" name="GBg0"/>
          <p:cNvSpPr/>
          <p:nvPr/>
        </p:nvSpPr>
        <p:spPr>
          <a:xfrm>
            <a:off x="365760" y="1510000"/>
            <a:ext cx="5500000" cy="540000"/>
          </a:xfrm>
          <a:prstGeom prst="rect">
            <a:avLst/>
          </a:prstGeom>
          <a:solidFill>
            <a:srgbClr val="E2EFDA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GFBar0"/>
          <p:cNvSpPr/>
          <p:nvPr/>
        </p:nvSpPr>
        <p:spPr>
          <a:xfrm>
            <a:off x="365760" y="1510000"/>
            <a:ext cx="60000" cy="54000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GFreq0"/>
          <p:cNvSpPr/>
          <p:nvPr/>
        </p:nvSpPr>
        <p:spPr>
          <a:xfrm>
            <a:off x="480000" y="1540000"/>
            <a:ext cx="900000" cy="20000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GFreqT0"/>
          <p:cNvSpPr/>
          <p:nvPr/>
        </p:nvSpPr>
        <p:spPr>
          <a:xfrm>
            <a:off x="490000" y="1560000"/>
            <a:ext cx="88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000" dirty="0"/>
          </a:p>
        </p:txBody>
      </p:sp>
      <p:sp>
        <p:nvSpPr>
          <p:cNvPr id="24" name="GTopic0"/>
          <p:cNvSpPr/>
          <p:nvPr/>
        </p:nvSpPr>
        <p:spPr>
          <a:xfrm>
            <a:off x="1430000" y="1540000"/>
            <a:ext cx="44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Review Per Team</a:t>
            </a:r>
            <a:endParaRPr lang="en-US" sz="1000" dirty="0"/>
          </a:p>
        </p:txBody>
      </p:sp>
      <p:sp>
        <p:nvSpPr>
          <p:cNvPr id="25" name="GDetail0"/>
          <p:cNvSpPr/>
          <p:nvPr/>
        </p:nvSpPr>
        <p:spPr>
          <a:xfrm>
            <a:off x="1430000" y="1750000"/>
            <a:ext cx="44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score delta · Incident trends · SLO health · Reliability backlog progress</a:t>
            </a:r>
            <a:endParaRPr lang="en-US" sz="1000" dirty="0"/>
          </a:p>
        </p:txBody>
      </p:sp>
      <p:sp>
        <p:nvSpPr>
          <p:cNvPr id="12" name="GBg1"/>
          <p:cNvSpPr/>
          <p:nvPr/>
        </p:nvSpPr>
        <p:spPr>
          <a:xfrm>
            <a:off x="365760" y="2110000"/>
            <a:ext cx="5500000" cy="540000"/>
          </a:xfrm>
          <a:prstGeom prst="rect">
            <a:avLst/>
          </a:prstGeom>
          <a:solidFill>
            <a:srgbClr val="E2EFDA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GFBar1"/>
          <p:cNvSpPr/>
          <p:nvPr/>
        </p:nvSpPr>
        <p:spPr>
          <a:xfrm>
            <a:off x="365760" y="2110000"/>
            <a:ext cx="60000" cy="54000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GFreq1"/>
          <p:cNvSpPr/>
          <p:nvPr/>
        </p:nvSpPr>
        <p:spPr>
          <a:xfrm>
            <a:off x="480000" y="2140000"/>
            <a:ext cx="900000" cy="20000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GFreqT1"/>
          <p:cNvSpPr/>
          <p:nvPr/>
        </p:nvSpPr>
        <p:spPr>
          <a:xfrm>
            <a:off x="490000" y="2160000"/>
            <a:ext cx="88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</a:t>
            </a:r>
            <a:endParaRPr lang="en-US" sz="1000" dirty="0"/>
          </a:p>
        </p:txBody>
      </p:sp>
      <p:sp>
        <p:nvSpPr>
          <p:cNvPr id="28" name="GTopic1"/>
          <p:cNvSpPr/>
          <p:nvPr/>
        </p:nvSpPr>
        <p:spPr>
          <a:xfrm>
            <a:off x="1430000" y="2140000"/>
            <a:ext cx="44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Score Tracking</a:t>
            </a:r>
            <a:endParaRPr lang="en-US" sz="1000" dirty="0"/>
          </a:p>
        </p:txBody>
      </p:sp>
      <p:sp>
        <p:nvSpPr>
          <p:cNvPr id="29" name="GDetail1"/>
          <p:cNvSpPr/>
          <p:nvPr/>
        </p:nvSpPr>
        <p:spPr>
          <a:xfrm>
            <a:off x="1430000" y="2350000"/>
            <a:ext cx="44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across all teams · Leadership visibility · Celebrate improvement</a:t>
            </a:r>
            <a:endParaRPr lang="en-US" sz="1000" dirty="0"/>
          </a:p>
        </p:txBody>
      </p:sp>
      <p:sp>
        <p:nvSpPr>
          <p:cNvPr id="14" name="GBg2"/>
          <p:cNvSpPr/>
          <p:nvPr/>
        </p:nvSpPr>
        <p:spPr>
          <a:xfrm>
            <a:off x="365760" y="2710000"/>
            <a:ext cx="5500000" cy="540000"/>
          </a:xfrm>
          <a:prstGeom prst="rect">
            <a:avLst/>
          </a:prstGeom>
          <a:solidFill>
            <a:srgbClr val="E2EFDA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GFBar2"/>
          <p:cNvSpPr/>
          <p:nvPr/>
        </p:nvSpPr>
        <p:spPr>
          <a:xfrm>
            <a:off x="365760" y="2710000"/>
            <a:ext cx="60000" cy="54000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GFreq2"/>
          <p:cNvSpPr/>
          <p:nvPr/>
        </p:nvSpPr>
        <p:spPr>
          <a:xfrm>
            <a:off x="480000" y="2740000"/>
            <a:ext cx="900000" cy="20000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GFreqT2"/>
          <p:cNvSpPr/>
          <p:nvPr/>
        </p:nvSpPr>
        <p:spPr>
          <a:xfrm>
            <a:off x="490000" y="2760000"/>
            <a:ext cx="88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000" dirty="0"/>
          </a:p>
        </p:txBody>
      </p:sp>
      <p:sp>
        <p:nvSpPr>
          <p:cNvPr id="32" name="GTopic2"/>
          <p:cNvSpPr/>
          <p:nvPr/>
        </p:nvSpPr>
        <p:spPr>
          <a:xfrm>
            <a:off x="1430000" y="2740000"/>
            <a:ext cx="44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Trend Review</a:t>
            </a:r>
            <a:endParaRPr lang="en-US" sz="1000" dirty="0"/>
          </a:p>
        </p:txBody>
      </p:sp>
      <p:sp>
        <p:nvSpPr>
          <p:cNvPr id="33" name="GDetail2"/>
          <p:cNvSpPr/>
          <p:nvPr/>
        </p:nvSpPr>
        <p:spPr>
          <a:xfrm>
            <a:off x="1430000" y="2950000"/>
            <a:ext cx="44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incidents · MTTR trends · Action tracking from postmortems</a:t>
            </a:r>
            <a:endParaRPr lang="en-US" sz="1000" dirty="0"/>
          </a:p>
        </p:txBody>
      </p:sp>
      <p:sp>
        <p:nvSpPr>
          <p:cNvPr id="16" name="GBg3"/>
          <p:cNvSpPr/>
          <p:nvPr/>
        </p:nvSpPr>
        <p:spPr>
          <a:xfrm>
            <a:off x="365760" y="3310000"/>
            <a:ext cx="5500000" cy="540000"/>
          </a:xfrm>
          <a:prstGeom prst="rect">
            <a:avLst/>
          </a:prstGeom>
          <a:solidFill>
            <a:srgbClr val="E2EFDA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GFBar3"/>
          <p:cNvSpPr/>
          <p:nvPr/>
        </p:nvSpPr>
        <p:spPr>
          <a:xfrm>
            <a:off x="365760" y="3310000"/>
            <a:ext cx="60000" cy="54000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GFreq3"/>
          <p:cNvSpPr/>
          <p:nvPr/>
        </p:nvSpPr>
        <p:spPr>
          <a:xfrm>
            <a:off x="480000" y="3340000"/>
            <a:ext cx="900000" cy="20000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GFreqT3"/>
          <p:cNvSpPr/>
          <p:nvPr/>
        </p:nvSpPr>
        <p:spPr>
          <a:xfrm>
            <a:off x="490000" y="3360000"/>
            <a:ext cx="88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000" dirty="0"/>
          </a:p>
        </p:txBody>
      </p:sp>
      <p:sp>
        <p:nvSpPr>
          <p:cNvPr id="36" name="GTopic3"/>
          <p:cNvSpPr/>
          <p:nvPr/>
        </p:nvSpPr>
        <p:spPr>
          <a:xfrm>
            <a:off x="1430000" y="3340000"/>
            <a:ext cx="44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 Health Review</a:t>
            </a:r>
            <a:endParaRPr lang="en-US" sz="1000" dirty="0"/>
          </a:p>
        </p:txBody>
      </p:sp>
      <p:sp>
        <p:nvSpPr>
          <p:cNvPr id="37" name="GDetail3"/>
          <p:cNvSpPr/>
          <p:nvPr/>
        </p:nvSpPr>
        <p:spPr>
          <a:xfrm>
            <a:off x="1430000" y="3550000"/>
            <a:ext cx="44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 compliance rates · Error budget consumption · At-risk services</a:t>
            </a:r>
            <a:endParaRPr lang="en-US" sz="1000" dirty="0"/>
          </a:p>
        </p:txBody>
      </p:sp>
      <p:sp>
        <p:nvSpPr>
          <p:cNvPr id="40" name="RHdr"/>
          <p:cNvSpPr/>
          <p:nvPr/>
        </p:nvSpPr>
        <p:spPr>
          <a:xfrm>
            <a:off x="6100000" y="1170000"/>
            <a:ext cx="2680000" cy="2800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HdrTxt"/>
          <p:cNvSpPr/>
          <p:nvPr/>
        </p:nvSpPr>
        <p:spPr>
          <a:xfrm>
            <a:off x="6160000" y="1200000"/>
            <a:ext cx="256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AVOID</a:t>
            </a:r>
            <a:endParaRPr lang="en-US" sz="1000" dirty="0"/>
          </a:p>
        </p:txBody>
      </p:sp>
      <p:sp>
        <p:nvSpPr>
          <p:cNvPr id="50" name="AvBg0"/>
          <p:cNvSpPr/>
          <p:nvPr/>
        </p:nvSpPr>
        <p:spPr>
          <a:xfrm>
            <a:off x="6100000" y="1510000"/>
            <a:ext cx="2680000" cy="440000"/>
          </a:xfrm>
          <a:prstGeom prst="rect">
            <a:avLst/>
          </a:prstGeom>
          <a:solidFill>
            <a:srgbClr val="FCE4D6"/>
          </a:solidFill>
          <a:ln w="12700">
            <a:solidFill>
              <a:srgbClr val="F4B9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AvTxt0"/>
          <p:cNvSpPr/>
          <p:nvPr/>
        </p:nvSpPr>
        <p:spPr>
          <a:xfrm>
            <a:off x="6160000" y="1550000"/>
            <a:ext cx="256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Heavy compliance gate processes</a:t>
            </a:r>
            <a:endParaRPr lang="en-US" sz="1000" dirty="0"/>
          </a:p>
        </p:txBody>
      </p:sp>
      <p:sp>
        <p:nvSpPr>
          <p:cNvPr id="18" name="AvBg1"/>
          <p:cNvSpPr/>
          <p:nvPr/>
        </p:nvSpPr>
        <p:spPr>
          <a:xfrm>
            <a:off x="6100000" y="2000000"/>
            <a:ext cx="2680000" cy="440000"/>
          </a:xfrm>
          <a:prstGeom prst="rect">
            <a:avLst/>
          </a:prstGeom>
          <a:solidFill>
            <a:srgbClr val="FCE4D6"/>
          </a:solidFill>
          <a:ln w="12700">
            <a:solidFill>
              <a:srgbClr val="F4B9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AvTxt1"/>
          <p:cNvSpPr/>
          <p:nvPr/>
        </p:nvSpPr>
        <p:spPr>
          <a:xfrm>
            <a:off x="6160000" y="2040000"/>
            <a:ext cx="256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Lengthy approval chains for changes</a:t>
            </a:r>
            <a:endParaRPr lang="en-US" sz="1000" dirty="0"/>
          </a:p>
        </p:txBody>
      </p:sp>
      <p:sp>
        <p:nvSpPr>
          <p:cNvPr id="19" name="AvBg2"/>
          <p:cNvSpPr/>
          <p:nvPr/>
        </p:nvSpPr>
        <p:spPr>
          <a:xfrm>
            <a:off x="6100000" y="2490000"/>
            <a:ext cx="2680000" cy="440000"/>
          </a:xfrm>
          <a:prstGeom prst="rect">
            <a:avLst/>
          </a:prstGeom>
          <a:solidFill>
            <a:srgbClr val="FCE4D6"/>
          </a:solidFill>
          <a:ln w="12700">
            <a:solidFill>
              <a:srgbClr val="F4B9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AvTxt2"/>
          <p:cNvSpPr/>
          <p:nvPr/>
        </p:nvSpPr>
        <p:spPr>
          <a:xfrm>
            <a:off x="6160000" y="2530000"/>
            <a:ext cx="256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Punitive maturity scoring</a:t>
            </a:r>
            <a:endParaRPr lang="en-US" sz="1000" dirty="0"/>
          </a:p>
        </p:txBody>
      </p:sp>
      <p:sp>
        <p:nvSpPr>
          <p:cNvPr id="38" name="AvBg3"/>
          <p:cNvSpPr/>
          <p:nvPr/>
        </p:nvSpPr>
        <p:spPr>
          <a:xfrm>
            <a:off x="6100000" y="2980000"/>
            <a:ext cx="2680000" cy="440000"/>
          </a:xfrm>
          <a:prstGeom prst="rect">
            <a:avLst/>
          </a:prstGeom>
          <a:solidFill>
            <a:srgbClr val="FCE4D6"/>
          </a:solidFill>
          <a:ln w="12700">
            <a:solidFill>
              <a:srgbClr val="F4B9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AvTxt3"/>
          <p:cNvSpPr/>
          <p:nvPr/>
        </p:nvSpPr>
        <p:spPr>
          <a:xfrm>
            <a:off x="6160000" y="3020000"/>
            <a:ext cx="256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Bureaucratic sign-off cycles</a:t>
            </a:r>
            <a:endParaRPr lang="en-US" sz="1000" dirty="0"/>
          </a:p>
        </p:txBody>
      </p:sp>
      <p:sp>
        <p:nvSpPr>
          <p:cNvPr id="39" name="AvBg4"/>
          <p:cNvSpPr/>
          <p:nvPr/>
        </p:nvSpPr>
        <p:spPr>
          <a:xfrm>
            <a:off x="6100000" y="3470000"/>
            <a:ext cx="2680000" cy="440000"/>
          </a:xfrm>
          <a:prstGeom prst="rect">
            <a:avLst/>
          </a:prstGeom>
          <a:solidFill>
            <a:srgbClr val="FCE4D6"/>
          </a:solidFill>
          <a:ln w="12700">
            <a:solidFill>
              <a:srgbClr val="F4B9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AvTxt4"/>
          <p:cNvSpPr/>
          <p:nvPr/>
        </p:nvSpPr>
        <p:spPr>
          <a:xfrm>
            <a:off x="6160000" y="3510000"/>
            <a:ext cx="256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Reporting for reporting's sake</a:t>
            </a:r>
            <a:endParaRPr lang="en-US" sz="1000" dirty="0"/>
          </a:p>
        </p:txBody>
      </p:sp>
      <p:sp>
        <p:nvSpPr>
          <p:cNvPr id="60" name="PHdr"/>
          <p:cNvSpPr/>
          <p:nvPr/>
        </p:nvSpPr>
        <p:spPr>
          <a:xfrm>
            <a:off x="365760" y="3960000"/>
            <a:ext cx="8412480" cy="280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PHdrTxt"/>
          <p:cNvSpPr/>
          <p:nvPr/>
        </p:nvSpPr>
        <p:spPr>
          <a:xfrm>
            <a:off x="420000" y="3990000"/>
            <a:ext cx="829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BY BUSINESS CRITICALITY — NOT ALL TEAMS EQUALLY</a:t>
            </a:r>
            <a:endParaRPr lang="en-US" sz="1000" dirty="0"/>
          </a:p>
        </p:txBody>
      </p:sp>
      <p:sp>
        <p:nvSpPr>
          <p:cNvPr id="62" name="PDesc"/>
          <p:cNvSpPr/>
          <p:nvPr/>
        </p:nvSpPr>
        <p:spPr>
          <a:xfrm>
            <a:off x="420000" y="4300000"/>
            <a:ext cx="829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first on high-impact platforms and revenue-critical systems. Mature them first → show value → expand. This creates momentum and stakeholder confidence.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2920"/>
            <a:ext cx="9144000" cy="54864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 ·  CENTRAL SRE OPERATING MODEL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98348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Enablement Strategy  ·  Confidential</a:t>
            </a:r>
            <a:endParaRPr lang="en-US" sz="1000" dirty="0"/>
          </a:p>
        </p:txBody>
      </p:sp>
      <p:sp>
        <p:nvSpPr>
          <p:cNvPr id="9" name="TitleBg"/>
          <p:cNvSpPr/>
          <p:nvPr/>
        </p:nvSpPr>
        <p:spPr>
          <a:xfrm>
            <a:off x="0" y="557784"/>
            <a:ext cx="9144000" cy="55778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6217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SRE Team —</a:t>
            </a:r>
            <a:r>
              <a:rPr lang="en-US" sz="2400" b="1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 Core Functions</a:t>
            </a:r>
            <a:endParaRPr lang="en-US" sz="1000" dirty="0"/>
          </a:p>
        </p:txBody>
      </p:sp>
      <p:sp>
        <p:nvSpPr>
          <p:cNvPr id="10" name="SubBg"/>
          <p:cNvSpPr/>
          <p:nvPr/>
        </p:nvSpPr>
        <p:spPr>
          <a:xfrm>
            <a:off x="365760" y="1170000"/>
            <a:ext cx="8412480" cy="280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ubTxt"/>
          <p:cNvSpPr/>
          <p:nvPr/>
        </p:nvSpPr>
        <p:spPr>
          <a:xfrm>
            <a:off x="420000" y="1200000"/>
            <a:ext cx="829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not introducing a new SRE model. We are enabling existing teams to progressively adopt and operationalise the current SRE framework through structured maturity assessment, targeted enablement, and measurable reliability improvements.</a:t>
            </a:r>
            <a:endParaRPr lang="en-US" sz="1000" dirty="0"/>
          </a:p>
        </p:txBody>
      </p:sp>
      <p:sp>
        <p:nvSpPr>
          <p:cNvPr id="20" name="FnBg0"/>
          <p:cNvSpPr/>
          <p:nvPr/>
        </p:nvSpPr>
        <p:spPr>
          <a:xfrm>
            <a:off x="365760" y="1530000"/>
            <a:ext cx="1640000" cy="340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FnTitle0"/>
          <p:cNvSpPr/>
          <p:nvPr/>
        </p:nvSpPr>
        <p:spPr>
          <a:xfrm>
            <a:off x="415760" y="1560000"/>
            <a:ext cx="154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DEFINE</a:t>
            </a:r>
            <a:endParaRPr lang="en-US" sz="1000" dirty="0"/>
          </a:p>
        </p:txBody>
      </p:sp>
      <p:sp>
        <p:nvSpPr>
          <p:cNvPr id="22" name="FnDescBg0"/>
          <p:cNvSpPr/>
          <p:nvPr/>
        </p:nvSpPr>
        <p:spPr>
          <a:xfrm>
            <a:off x="365760" y="1880000"/>
            <a:ext cx="1640000" cy="500000"/>
          </a:xfrm>
          <a:prstGeom prst="rect">
            <a:avLst/>
          </a:prstGeom>
          <a:solidFill>
            <a:srgbClr val="EEF2F7"/>
          </a:solidFill>
          <a:ln w="12700">
            <a:solidFill>
              <a:srgbClr val="D6D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FnDesc0"/>
          <p:cNvSpPr/>
          <p:nvPr/>
        </p:nvSpPr>
        <p:spPr>
          <a:xfrm>
            <a:off x="415760" y="1900000"/>
            <a:ext cx="1540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· SLO frameworks · Best practices · Policies</a:t>
            </a:r>
            <a:endParaRPr lang="en-US" sz="1000" dirty="0"/>
          </a:p>
        </p:txBody>
      </p:sp>
      <p:sp>
        <p:nvSpPr>
          <p:cNvPr id="24" name="ExBg0_0"/>
          <p:cNvSpPr/>
          <p:nvPr/>
        </p:nvSpPr>
        <p:spPr>
          <a:xfrm>
            <a:off x="365760" y="2440000"/>
            <a:ext cx="1640000" cy="300000"/>
          </a:xfrm>
          <a:prstGeom prst="rect">
            <a:avLst/>
          </a:prstGeom>
          <a:solidFill>
            <a:srgbClr val="E2EFDA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ExTxt0_0"/>
          <p:cNvSpPr/>
          <p:nvPr/>
        </p:nvSpPr>
        <p:spPr>
          <a:xfrm>
            <a:off x="415760" y="2470000"/>
            <a:ext cx="154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Common SLO patterns</a:t>
            </a:r>
            <a:endParaRPr lang="en-US" sz="1000" dirty="0"/>
          </a:p>
        </p:txBody>
      </p:sp>
      <p:sp>
        <p:nvSpPr>
          <p:cNvPr id="74" name="ExBg0_1"/>
          <p:cNvSpPr/>
          <p:nvPr/>
        </p:nvSpPr>
        <p:spPr>
          <a:xfrm>
            <a:off x="365760" y="2780000"/>
            <a:ext cx="1640000" cy="300000"/>
          </a:xfrm>
          <a:prstGeom prst="rect">
            <a:avLst/>
          </a:prstGeom>
          <a:solidFill>
            <a:srgbClr val="E2EFDA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ExTxt0_1"/>
          <p:cNvSpPr/>
          <p:nvPr/>
        </p:nvSpPr>
        <p:spPr>
          <a:xfrm>
            <a:off x="415760" y="2810000"/>
            <a:ext cx="154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Service ownership policy</a:t>
            </a:r>
            <a:endParaRPr lang="en-US" sz="1000" dirty="0"/>
          </a:p>
        </p:txBody>
      </p:sp>
      <p:sp>
        <p:nvSpPr>
          <p:cNvPr id="124" name="ExBg0_2"/>
          <p:cNvSpPr/>
          <p:nvPr/>
        </p:nvSpPr>
        <p:spPr>
          <a:xfrm>
            <a:off x="365760" y="3120000"/>
            <a:ext cx="1640000" cy="300000"/>
          </a:xfrm>
          <a:prstGeom prst="rect">
            <a:avLst/>
          </a:prstGeom>
          <a:solidFill>
            <a:srgbClr val="E2EFDA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ExTxt0_2"/>
          <p:cNvSpPr/>
          <p:nvPr/>
        </p:nvSpPr>
        <p:spPr>
          <a:xfrm>
            <a:off x="415760" y="3150000"/>
            <a:ext cx="154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Alert quality standards</a:t>
            </a:r>
            <a:endParaRPr lang="en-US" sz="1000" dirty="0"/>
          </a:p>
        </p:txBody>
      </p:sp>
      <p:sp>
        <p:nvSpPr>
          <p:cNvPr id="28" name="FnBg1"/>
          <p:cNvSpPr/>
          <p:nvPr/>
        </p:nvSpPr>
        <p:spPr>
          <a:xfrm>
            <a:off x="2095760" y="1530000"/>
            <a:ext cx="1640000" cy="3400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FnTitle1"/>
          <p:cNvSpPr/>
          <p:nvPr/>
        </p:nvSpPr>
        <p:spPr>
          <a:xfrm>
            <a:off x="2145760" y="1560000"/>
            <a:ext cx="154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ASSESS</a:t>
            </a:r>
            <a:endParaRPr lang="en-US" sz="1000" dirty="0"/>
          </a:p>
        </p:txBody>
      </p:sp>
      <p:sp>
        <p:nvSpPr>
          <p:cNvPr id="30" name="FnDescBg1"/>
          <p:cNvSpPr/>
          <p:nvPr/>
        </p:nvSpPr>
        <p:spPr>
          <a:xfrm>
            <a:off x="2095760" y="1880000"/>
            <a:ext cx="1640000" cy="500000"/>
          </a:xfrm>
          <a:prstGeom prst="rect">
            <a:avLst/>
          </a:prstGeom>
          <a:solidFill>
            <a:srgbClr val="EEF2F7"/>
          </a:solidFill>
          <a:ln w="12700">
            <a:solidFill>
              <a:srgbClr val="D6D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FnDesc1"/>
          <p:cNvSpPr/>
          <p:nvPr/>
        </p:nvSpPr>
        <p:spPr>
          <a:xfrm>
            <a:off x="2145760" y="1900000"/>
            <a:ext cx="1540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baselines · Scorecards per team · Heatmaps</a:t>
            </a:r>
            <a:endParaRPr lang="en-US" sz="1000" dirty="0"/>
          </a:p>
        </p:txBody>
      </p:sp>
      <p:sp>
        <p:nvSpPr>
          <p:cNvPr id="32" name="ExBg1_0"/>
          <p:cNvSpPr/>
          <p:nvPr/>
        </p:nvSpPr>
        <p:spPr>
          <a:xfrm>
            <a:off x="2095760" y="2440000"/>
            <a:ext cx="1640000" cy="300000"/>
          </a:xfrm>
          <a:prstGeom prst="rect">
            <a:avLst/>
          </a:prstGeom>
          <a:solidFill>
            <a:srgbClr val="E2EFDA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ExTxt1_0"/>
          <p:cNvSpPr/>
          <p:nvPr/>
        </p:nvSpPr>
        <p:spPr>
          <a:xfrm>
            <a:off x="2145760" y="2470000"/>
            <a:ext cx="154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Team maturity baseline</a:t>
            </a:r>
            <a:endParaRPr lang="en-US" sz="1000" dirty="0"/>
          </a:p>
        </p:txBody>
      </p:sp>
      <p:sp>
        <p:nvSpPr>
          <p:cNvPr id="82" name="ExBg1_1"/>
          <p:cNvSpPr/>
          <p:nvPr/>
        </p:nvSpPr>
        <p:spPr>
          <a:xfrm>
            <a:off x="2095760" y="2780000"/>
            <a:ext cx="1640000" cy="300000"/>
          </a:xfrm>
          <a:prstGeom prst="rect">
            <a:avLst/>
          </a:prstGeom>
          <a:solidFill>
            <a:srgbClr val="E2EFDA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ExTxt1_1"/>
          <p:cNvSpPr/>
          <p:nvPr/>
        </p:nvSpPr>
        <p:spPr>
          <a:xfrm>
            <a:off x="2145760" y="2810000"/>
            <a:ext cx="154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Dimension-level scoring</a:t>
            </a:r>
            <a:endParaRPr lang="en-US" sz="1000" dirty="0"/>
          </a:p>
        </p:txBody>
      </p:sp>
      <p:sp>
        <p:nvSpPr>
          <p:cNvPr id="132" name="ExBg1_2"/>
          <p:cNvSpPr/>
          <p:nvPr/>
        </p:nvSpPr>
        <p:spPr>
          <a:xfrm>
            <a:off x="2095760" y="3120000"/>
            <a:ext cx="1640000" cy="300000"/>
          </a:xfrm>
          <a:prstGeom prst="rect">
            <a:avLst/>
          </a:prstGeom>
          <a:solidFill>
            <a:srgbClr val="E2EFDA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ExTxt1_2"/>
          <p:cNvSpPr/>
          <p:nvPr/>
        </p:nvSpPr>
        <p:spPr>
          <a:xfrm>
            <a:off x="2145760" y="3150000"/>
            <a:ext cx="154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Leadership visibility</a:t>
            </a:r>
            <a:endParaRPr lang="en-US" sz="1000" dirty="0"/>
          </a:p>
        </p:txBody>
      </p:sp>
      <p:sp>
        <p:nvSpPr>
          <p:cNvPr id="36" name="FnBg2"/>
          <p:cNvSpPr/>
          <p:nvPr/>
        </p:nvSpPr>
        <p:spPr>
          <a:xfrm>
            <a:off x="3825760" y="1530000"/>
            <a:ext cx="1640000" cy="34000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FnTitle2"/>
          <p:cNvSpPr/>
          <p:nvPr/>
        </p:nvSpPr>
        <p:spPr>
          <a:xfrm>
            <a:off x="3875760" y="1560000"/>
            <a:ext cx="154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ENABLE</a:t>
            </a:r>
            <a:endParaRPr lang="en-US" sz="1000" dirty="0"/>
          </a:p>
        </p:txBody>
      </p:sp>
      <p:sp>
        <p:nvSpPr>
          <p:cNvPr id="38" name="FnDescBg2"/>
          <p:cNvSpPr/>
          <p:nvPr/>
        </p:nvSpPr>
        <p:spPr>
          <a:xfrm>
            <a:off x="3825760" y="1880000"/>
            <a:ext cx="1640000" cy="500000"/>
          </a:xfrm>
          <a:prstGeom prst="rect">
            <a:avLst/>
          </a:prstGeom>
          <a:solidFill>
            <a:srgbClr val="EEF2F7"/>
          </a:solidFill>
          <a:ln w="12700">
            <a:solidFill>
              <a:srgbClr val="D6D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FnDesc2"/>
          <p:cNvSpPr/>
          <p:nvPr/>
        </p:nvSpPr>
        <p:spPr>
          <a:xfrm>
            <a:off x="3875760" y="1900000"/>
            <a:ext cx="1540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SREs · Coach teams · Provide templates</a:t>
            </a:r>
            <a:endParaRPr lang="en-US" sz="1000" dirty="0"/>
          </a:p>
        </p:txBody>
      </p:sp>
      <p:sp>
        <p:nvSpPr>
          <p:cNvPr id="40" name="ExBg2_0"/>
          <p:cNvSpPr/>
          <p:nvPr/>
        </p:nvSpPr>
        <p:spPr>
          <a:xfrm>
            <a:off x="3825760" y="2440000"/>
            <a:ext cx="1640000" cy="300000"/>
          </a:xfrm>
          <a:prstGeom prst="rect">
            <a:avLst/>
          </a:prstGeom>
          <a:solidFill>
            <a:srgbClr val="E2EFDA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ExTxt2_0"/>
          <p:cNvSpPr/>
          <p:nvPr/>
        </p:nvSpPr>
        <p:spPr>
          <a:xfrm>
            <a:off x="3875760" y="2470000"/>
            <a:ext cx="154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Temporary team embedding</a:t>
            </a:r>
            <a:endParaRPr lang="en-US" sz="1000" dirty="0"/>
          </a:p>
        </p:txBody>
      </p:sp>
      <p:sp>
        <p:nvSpPr>
          <p:cNvPr id="90" name="ExBg2_1"/>
          <p:cNvSpPr/>
          <p:nvPr/>
        </p:nvSpPr>
        <p:spPr>
          <a:xfrm>
            <a:off x="3825760" y="2780000"/>
            <a:ext cx="1640000" cy="300000"/>
          </a:xfrm>
          <a:prstGeom prst="rect">
            <a:avLst/>
          </a:prstGeom>
          <a:solidFill>
            <a:srgbClr val="E2EFDA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ExTxt2_1"/>
          <p:cNvSpPr/>
          <p:nvPr/>
        </p:nvSpPr>
        <p:spPr>
          <a:xfrm>
            <a:off x="3875760" y="2810000"/>
            <a:ext cx="154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Ready-to-use templates</a:t>
            </a:r>
            <a:endParaRPr lang="en-US" sz="1000" dirty="0"/>
          </a:p>
        </p:txBody>
      </p:sp>
      <p:sp>
        <p:nvSpPr>
          <p:cNvPr id="140" name="ExBg2_2"/>
          <p:cNvSpPr/>
          <p:nvPr/>
        </p:nvSpPr>
        <p:spPr>
          <a:xfrm>
            <a:off x="3825760" y="3120000"/>
            <a:ext cx="1640000" cy="300000"/>
          </a:xfrm>
          <a:prstGeom prst="rect">
            <a:avLst/>
          </a:prstGeom>
          <a:solidFill>
            <a:srgbClr val="E2EFDA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ExTxt2_2"/>
          <p:cNvSpPr/>
          <p:nvPr/>
        </p:nvSpPr>
        <p:spPr>
          <a:xfrm>
            <a:off x="3875760" y="3150000"/>
            <a:ext cx="154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Golden paths</a:t>
            </a:r>
            <a:endParaRPr lang="en-US" sz="1000" dirty="0"/>
          </a:p>
        </p:txBody>
      </p:sp>
      <p:sp>
        <p:nvSpPr>
          <p:cNvPr id="44" name="FnBg3"/>
          <p:cNvSpPr/>
          <p:nvPr/>
        </p:nvSpPr>
        <p:spPr>
          <a:xfrm>
            <a:off x="5555760" y="1530000"/>
            <a:ext cx="1640000" cy="3400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FnTitle3"/>
          <p:cNvSpPr/>
          <p:nvPr/>
        </p:nvSpPr>
        <p:spPr>
          <a:xfrm>
            <a:off x="5605760" y="1560000"/>
            <a:ext cx="154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IMPROVE</a:t>
            </a:r>
            <a:endParaRPr lang="en-US" sz="1000" dirty="0"/>
          </a:p>
        </p:txBody>
      </p:sp>
      <p:sp>
        <p:nvSpPr>
          <p:cNvPr id="46" name="FnDescBg3"/>
          <p:cNvSpPr/>
          <p:nvPr/>
        </p:nvSpPr>
        <p:spPr>
          <a:xfrm>
            <a:off x="5555760" y="1880000"/>
            <a:ext cx="1640000" cy="500000"/>
          </a:xfrm>
          <a:prstGeom prst="rect">
            <a:avLst/>
          </a:prstGeom>
          <a:solidFill>
            <a:srgbClr val="EEF2F7"/>
          </a:solidFill>
          <a:ln w="12700">
            <a:solidFill>
              <a:srgbClr val="D6D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FnDesc3"/>
          <p:cNvSpPr/>
          <p:nvPr/>
        </p:nvSpPr>
        <p:spPr>
          <a:xfrm>
            <a:off x="5605760" y="1900000"/>
            <a:ext cx="1540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backlogs · Reduce toil · Fix observability</a:t>
            </a:r>
            <a:endParaRPr lang="en-US" sz="1000" dirty="0"/>
          </a:p>
        </p:txBody>
      </p:sp>
      <p:sp>
        <p:nvSpPr>
          <p:cNvPr id="48" name="ExBg3_0"/>
          <p:cNvSpPr/>
          <p:nvPr/>
        </p:nvSpPr>
        <p:spPr>
          <a:xfrm>
            <a:off x="5555760" y="2440000"/>
            <a:ext cx="1640000" cy="300000"/>
          </a:xfrm>
          <a:prstGeom prst="rect">
            <a:avLst/>
          </a:prstGeom>
          <a:solidFill>
            <a:srgbClr val="E2EFDA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ExTxt3_0"/>
          <p:cNvSpPr/>
          <p:nvPr/>
        </p:nvSpPr>
        <p:spPr>
          <a:xfrm>
            <a:off x="5605760" y="2470000"/>
            <a:ext cx="154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Reliability backlog per team</a:t>
            </a:r>
            <a:endParaRPr lang="en-US" sz="1000" dirty="0"/>
          </a:p>
        </p:txBody>
      </p:sp>
      <p:sp>
        <p:nvSpPr>
          <p:cNvPr id="98" name="ExBg3_1"/>
          <p:cNvSpPr/>
          <p:nvPr/>
        </p:nvSpPr>
        <p:spPr>
          <a:xfrm>
            <a:off x="5555760" y="2780000"/>
            <a:ext cx="1640000" cy="300000"/>
          </a:xfrm>
          <a:prstGeom prst="rect">
            <a:avLst/>
          </a:prstGeom>
          <a:solidFill>
            <a:srgbClr val="E2EFDA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ExTxt3_1"/>
          <p:cNvSpPr/>
          <p:nvPr/>
        </p:nvSpPr>
        <p:spPr>
          <a:xfrm>
            <a:off x="5605760" y="2810000"/>
            <a:ext cx="154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Top 10 toil reduction</a:t>
            </a:r>
            <a:endParaRPr lang="en-US" sz="1000" dirty="0"/>
          </a:p>
        </p:txBody>
      </p:sp>
      <p:sp>
        <p:nvSpPr>
          <p:cNvPr id="148" name="ExBg3_2"/>
          <p:cNvSpPr/>
          <p:nvPr/>
        </p:nvSpPr>
        <p:spPr>
          <a:xfrm>
            <a:off x="5555760" y="3120000"/>
            <a:ext cx="1640000" cy="300000"/>
          </a:xfrm>
          <a:prstGeom prst="rect">
            <a:avLst/>
          </a:prstGeom>
          <a:solidFill>
            <a:srgbClr val="E2EFDA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ExTxt3_2"/>
          <p:cNvSpPr/>
          <p:nvPr/>
        </p:nvSpPr>
        <p:spPr>
          <a:xfrm>
            <a:off x="5605760" y="3150000"/>
            <a:ext cx="154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Alert quality programme</a:t>
            </a:r>
            <a:endParaRPr lang="en-US" sz="1000" dirty="0"/>
          </a:p>
        </p:txBody>
      </p:sp>
      <p:sp>
        <p:nvSpPr>
          <p:cNvPr id="52" name="FnBg4"/>
          <p:cNvSpPr/>
          <p:nvPr/>
        </p:nvSpPr>
        <p:spPr>
          <a:xfrm>
            <a:off x="7285760" y="1530000"/>
            <a:ext cx="1640000" cy="340000"/>
          </a:xfrm>
          <a:prstGeom prst="rect">
            <a:avLst/>
          </a:prstGeom>
          <a:solidFill>
            <a:srgbClr val="7F6000"/>
          </a:solidFill>
          <a:ln w="12700">
            <a:solidFill>
              <a:srgbClr val="7F6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FnTitle4"/>
          <p:cNvSpPr/>
          <p:nvPr/>
        </p:nvSpPr>
        <p:spPr>
          <a:xfrm>
            <a:off x="7335760" y="1560000"/>
            <a:ext cx="154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GOVERN</a:t>
            </a:r>
            <a:endParaRPr lang="en-US" sz="1000" dirty="0"/>
          </a:p>
        </p:txBody>
      </p:sp>
      <p:sp>
        <p:nvSpPr>
          <p:cNvPr id="54" name="FnDescBg4"/>
          <p:cNvSpPr/>
          <p:nvPr/>
        </p:nvSpPr>
        <p:spPr>
          <a:xfrm>
            <a:off x="7285760" y="1880000"/>
            <a:ext cx="1640000" cy="500000"/>
          </a:xfrm>
          <a:prstGeom prst="rect">
            <a:avLst/>
          </a:prstGeom>
          <a:solidFill>
            <a:srgbClr val="EEF2F7"/>
          </a:solidFill>
          <a:ln w="12700">
            <a:solidFill>
              <a:srgbClr val="D6D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FnDesc4"/>
          <p:cNvSpPr/>
          <p:nvPr/>
        </p:nvSpPr>
        <p:spPr>
          <a:xfrm>
            <a:off x="7335760" y="1900000"/>
            <a:ext cx="1540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maturity · Report to leadership · Light oversight</a:t>
            </a:r>
            <a:endParaRPr lang="en-US" sz="1000" dirty="0"/>
          </a:p>
        </p:txBody>
      </p:sp>
      <p:sp>
        <p:nvSpPr>
          <p:cNvPr id="56" name="ExBg4_0"/>
          <p:cNvSpPr/>
          <p:nvPr/>
        </p:nvSpPr>
        <p:spPr>
          <a:xfrm>
            <a:off x="7285760" y="2440000"/>
            <a:ext cx="1640000" cy="300000"/>
          </a:xfrm>
          <a:prstGeom prst="rect">
            <a:avLst/>
          </a:prstGeom>
          <a:solidFill>
            <a:srgbClr val="E2EFDA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ExTxt4_0"/>
          <p:cNvSpPr/>
          <p:nvPr/>
        </p:nvSpPr>
        <p:spPr>
          <a:xfrm>
            <a:off x="7335760" y="2470000"/>
            <a:ext cx="154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Monthly SRE reviews</a:t>
            </a:r>
            <a:endParaRPr lang="en-US" sz="1000" dirty="0"/>
          </a:p>
        </p:txBody>
      </p:sp>
      <p:sp>
        <p:nvSpPr>
          <p:cNvPr id="106" name="ExBg4_1"/>
          <p:cNvSpPr/>
          <p:nvPr/>
        </p:nvSpPr>
        <p:spPr>
          <a:xfrm>
            <a:off x="7285760" y="2780000"/>
            <a:ext cx="1640000" cy="300000"/>
          </a:xfrm>
          <a:prstGeom prst="rect">
            <a:avLst/>
          </a:prstGeom>
          <a:solidFill>
            <a:srgbClr val="E2EFDA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ExTxt4_1"/>
          <p:cNvSpPr/>
          <p:nvPr/>
        </p:nvSpPr>
        <p:spPr>
          <a:xfrm>
            <a:off x="7335760" y="2810000"/>
            <a:ext cx="154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Quarterly maturity scores</a:t>
            </a:r>
            <a:endParaRPr lang="en-US" sz="1000" dirty="0"/>
          </a:p>
        </p:txBody>
      </p:sp>
      <p:sp>
        <p:nvSpPr>
          <p:cNvPr id="156" name="ExBg4_2"/>
          <p:cNvSpPr/>
          <p:nvPr/>
        </p:nvSpPr>
        <p:spPr>
          <a:xfrm>
            <a:off x="7285760" y="3120000"/>
            <a:ext cx="1640000" cy="300000"/>
          </a:xfrm>
          <a:prstGeom prst="rect">
            <a:avLst/>
          </a:prstGeom>
          <a:solidFill>
            <a:srgbClr val="E2EFDA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ExTxt4_2"/>
          <p:cNvSpPr/>
          <p:nvPr/>
        </p:nvSpPr>
        <p:spPr>
          <a:xfrm>
            <a:off x="7335760" y="3150000"/>
            <a:ext cx="154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Incident trend tracking</a:t>
            </a:r>
            <a:endParaRPr lang="en-US" sz="1000" dirty="0"/>
          </a:p>
        </p:txBody>
      </p:sp>
      <p:sp>
        <p:nvSpPr>
          <p:cNvPr id="80" name="ShiftBg"/>
          <p:cNvSpPr/>
          <p:nvPr/>
        </p:nvSpPr>
        <p:spPr>
          <a:xfrm>
            <a:off x="365760" y="3490000"/>
            <a:ext cx="8412480" cy="440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iftTxt"/>
          <p:cNvSpPr/>
          <p:nvPr/>
        </p:nvSpPr>
        <p:spPr>
          <a:xfrm>
            <a:off x="502920" y="3530000"/>
            <a:ext cx="82296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Critical Shift: </a:t>
            </a:r>
            <a:r>
              <a:rPr lang="en-US" sz="1200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define SRE"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r>
              <a:rPr lang="en-US" sz="1200" i="1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make SRE work in reality across teams"</a:t>
            </a:r>
            <a:endParaRPr lang="en-US" sz="1000" dirty="0"/>
          </a:p>
        </p:txBody>
      </p:sp>
      <p:sp>
        <p:nvSpPr>
          <p:cNvPr id="12" name="CloseBg"/>
          <p:cNvSpPr/>
          <p:nvPr/>
        </p:nvSpPr>
        <p:spPr>
          <a:xfrm>
            <a:off x="365760" y="4010000"/>
            <a:ext cx="8412480" cy="38000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CloseTxt"/>
          <p:cNvSpPr/>
          <p:nvPr/>
        </p:nvSpPr>
        <p:spPr>
          <a:xfrm>
            <a:off x="502920" y="4046000"/>
            <a:ext cx="8229600" cy="3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enterprises fail at SRE not because they lack frameworks — but because they cannot operationalise them across teams. That is exactly where we can create value.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1564</Words>
  <Application>Microsoft Macintosh PowerPoint</Application>
  <PresentationFormat>On-screen Show (16:9)</PresentationFormat>
  <Paragraphs>256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Our Approach — DevSecOps Enablement</dc:title>
  <dc:subject>PptxGenJS Presentation</dc:subject>
  <dc:creator>PptxGenJS</dc:creator>
  <cp:lastModifiedBy>Kiran Surya</cp:lastModifiedBy>
  <cp:revision>7</cp:revision>
  <dcterms:created xsi:type="dcterms:W3CDTF">2026-03-26T10:38:04Z</dcterms:created>
  <dcterms:modified xsi:type="dcterms:W3CDTF">2026-04-01T09:58:40Z</dcterms:modified>
</cp:coreProperties>
</file>