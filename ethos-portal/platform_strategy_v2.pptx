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Engineering Strategy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Delivery Today: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Scalable… but Fragmented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REALITY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16552" y="1188720"/>
            <a:ext cx="18288" cy="338328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444752"/>
            <a:ext cx="3931920" cy="640080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444752"/>
            <a:ext cx="50292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499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Platforms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170078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AWS accounts + Azure subscriptions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landing zone or Kubernetes baseline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139696"/>
            <a:ext cx="3931920" cy="640080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39696"/>
            <a:ext cx="50292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194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DevOps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" y="239572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CI/CD tools and pipeline designs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→ deployment risk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3931920" cy="640080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34640"/>
            <a:ext cx="50292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" y="3090672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TLS, scanning handled differently per team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complexity across environments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529584"/>
            <a:ext cx="3931920" cy="640080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529584"/>
            <a:ext cx="50292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584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Observability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" y="378561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silos (CloudWatch, App Insights, etc.)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SLO or incident visibility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1444752"/>
            <a:ext cx="3931920" cy="640080"/>
          </a:xfrm>
          <a:prstGeom prst="rect">
            <a:avLst/>
          </a:prstGeom>
          <a:solidFill>
            <a:srgbClr val="FFF2CC"/>
          </a:solidFill>
          <a:ln w="9525">
            <a:solidFill>
              <a:srgbClr val="F2C8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444752"/>
            <a:ext cx="50292" cy="64008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1499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Risk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92624" y="170078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deployments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exposure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2139696"/>
            <a:ext cx="3931920" cy="640080"/>
          </a:xfrm>
          <a:prstGeom prst="rect">
            <a:avLst/>
          </a:prstGeom>
          <a:solidFill>
            <a:srgbClr val="FFF2CC"/>
          </a:solidFill>
          <a:ln w="9525">
            <a:solidFill>
              <a:srgbClr val="F2C8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139696"/>
            <a:ext cx="50292" cy="64008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2194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Delivery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92624" y="239572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reinvent pipelines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onboarding time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2834640"/>
            <a:ext cx="3931920" cy="640080"/>
          </a:xfrm>
          <a:prstGeom prst="rect">
            <a:avLst/>
          </a:prstGeom>
          <a:solidFill>
            <a:srgbClr val="FFF2CC"/>
          </a:solidFill>
          <a:ln w="9525">
            <a:solidFill>
              <a:srgbClr val="F2C8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2834640"/>
            <a:ext cx="50292" cy="64008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92624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92624" y="3090672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tooling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resource usage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3529584"/>
            <a:ext cx="3931920" cy="640080"/>
          </a:xfrm>
          <a:prstGeom prst="rect">
            <a:avLst/>
          </a:prstGeom>
          <a:solidFill>
            <a:srgbClr val="FFF2CC"/>
          </a:solidFill>
          <a:ln w="9525">
            <a:solidFill>
              <a:srgbClr val="F2C8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3529584"/>
            <a:ext cx="50292" cy="64008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2624" y="3584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92624" y="378561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ownership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4517136"/>
            <a:ext cx="8412480" cy="38404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537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organisation is running infrastructure, not a platform."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&amp; FUTURE STATE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Engineering Strategy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Engineering Strategy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(AWS + Azure)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841248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0700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Strategy: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Central Platform Engineering Function to deliver a unified, secure, and observable multi-cloud platform.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STRATEGIC PILLARS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901952"/>
            <a:ext cx="2011680" cy="1737360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01952"/>
            <a:ext cx="2011680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933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Standardisation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359152"/>
            <a:ext cx="1874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AWS + Azure landing zones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EKS / AKS platform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as ingress baseline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as foundation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50592" y="1901952"/>
            <a:ext cx="2011680" cy="1737360"/>
          </a:xfrm>
          <a:prstGeom prst="rect">
            <a:avLst/>
          </a:prstGeom>
          <a:solidFill>
            <a:srgbClr val="DCE6F1"/>
          </a:solidFill>
          <a:ln w="9525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901952"/>
            <a:ext cx="2011680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19933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by 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42032" y="2359152"/>
            <a:ext cx="1874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CI/CD templates (golden paths)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SAST, DAST, container scanning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secrets (Vault / Key Vault)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35424" y="1901952"/>
            <a:ext cx="2011680" cy="1737360"/>
          </a:xfrm>
          <a:prstGeom prst="rect">
            <a:avLst/>
          </a:prstGeom>
          <a:solidFill>
            <a:srgbClr val="E8E6F5"/>
          </a:solidFill>
          <a:ln w="9525">
            <a:solidFill>
              <a:srgbClr val="3A30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35424" y="1901952"/>
            <a:ext cx="2011680" cy="5029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9933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26864" y="2359152"/>
            <a:ext cx="1874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monitoring model (Dynatrace or OSS)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tracing standardised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SLO-driven alerting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20256" y="1901952"/>
            <a:ext cx="2011680" cy="1737360"/>
          </a:xfrm>
          <a:prstGeom prst="rect">
            <a:avLst/>
          </a:prstGeom>
          <a:solidFill>
            <a:srgbClr val="FFF2CC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20256" y="1901952"/>
            <a:ext cx="2011680" cy="5029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19933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11696" y="2359152"/>
            <a:ext cx="1874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 owns: infra, pipelines, security baseline, Day-2 ops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teams focus on delivery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3749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968496"/>
            <a:ext cx="201168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968496"/>
            <a:ext cx="50292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 delivery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14600" y="3968496"/>
            <a:ext cx="201168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14600" y="3968496"/>
            <a:ext cx="50292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60904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Reduced risk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968496"/>
            <a:ext cx="201168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968496"/>
            <a:ext cx="50292" cy="420624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Full visibility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12280" y="3968496"/>
            <a:ext cx="201168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12280" y="3968496"/>
            <a:ext cx="50292" cy="420624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Lower cost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407408"/>
            <a:ext cx="8412480" cy="493776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44398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already proven this model through successful migration. This strategy scales that success across the enterprise."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STRUCTURE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Engineering Strategy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 —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Teams, Accounts &amp; Governance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MODEL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426464"/>
            <a:ext cx="4023360" cy="768096"/>
          </a:xfrm>
          <a:prstGeom prst="rect">
            <a:avLst/>
          </a:prstGeom>
          <a:solidFill>
            <a:srgbClr val="DCE6F1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426464"/>
            <a:ext cx="4023360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81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Central Platform 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17190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zones · Pipelines · Security baseline · Observability · Cost governance · Day-2 ops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77440" y="2194560"/>
            <a:ext cx="0" cy="164592"/>
          </a:xfrm>
          <a:prstGeom prst="line">
            <a:avLst/>
          </a:prstGeom>
          <a:noFill/>
          <a:ln w="19050">
            <a:solidFill>
              <a:srgbClr val="ADB9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13432" y="2331720"/>
            <a:ext cx="128016" cy="73152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404872"/>
            <a:ext cx="3200400" cy="713232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2404872"/>
            <a:ext cx="3200400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450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Embedded Platform Engineers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26791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major product domain. Accelerates adoption, feeds requirements back.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77440" y="3118104"/>
            <a:ext cx="0" cy="146304"/>
          </a:xfrm>
          <a:prstGeom prst="line">
            <a:avLst/>
          </a:prstGeom>
          <a:noFill/>
          <a:ln w="19050">
            <a:solidFill>
              <a:srgbClr val="ADB9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236976"/>
            <a:ext cx="128016" cy="73152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10128"/>
            <a:ext cx="1222248" cy="585216"/>
          </a:xfrm>
          <a:prstGeom prst="rect">
            <a:avLst/>
          </a:prstGeom>
          <a:solidFill>
            <a:srgbClr val="F5F5F5"/>
          </a:solidFill>
          <a:ln w="9525">
            <a:solidFill>
              <a:srgbClr val="ADB9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10128"/>
            <a:ext cx="1222248" cy="5029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346704"/>
            <a:ext cx="1130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App Team 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 1)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70304" y="3310128"/>
            <a:ext cx="1222248" cy="585216"/>
          </a:xfrm>
          <a:prstGeom prst="rect">
            <a:avLst/>
          </a:prstGeom>
          <a:solidFill>
            <a:srgbClr val="F5F5F5"/>
          </a:solidFill>
          <a:ln w="9525">
            <a:solidFill>
              <a:srgbClr val="ADB9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70304" y="3310128"/>
            <a:ext cx="1222248" cy="5029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43456" y="3346704"/>
            <a:ext cx="1130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App Team 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 2)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74848" y="3310128"/>
            <a:ext cx="1222248" cy="585216"/>
          </a:xfrm>
          <a:prstGeom prst="rect">
            <a:avLst/>
          </a:prstGeom>
          <a:solidFill>
            <a:srgbClr val="F5F5F5"/>
          </a:solidFill>
          <a:ln w="9525">
            <a:solidFill>
              <a:srgbClr val="ADB9C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74848" y="3310128"/>
            <a:ext cx="1222248" cy="5029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48000" y="3346704"/>
            <a:ext cx="1130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App Team 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 N…)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3950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ship features — not manage infrastructure.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80560" y="1170432"/>
            <a:ext cx="18288" cy="2980944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11887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1426464"/>
            <a:ext cx="4160520" cy="242316"/>
          </a:xfrm>
          <a:prstGeom prst="rect">
            <a:avLst/>
          </a:prstGeom>
          <a:solidFill>
            <a:srgbClr val="DCE6F1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1426464"/>
            <a:ext cx="50292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14630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zones &amp; account hierarchy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52360" y="146304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17720" y="1696212"/>
            <a:ext cx="416052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1696212"/>
            <a:ext cx="50292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45736" y="17327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templates (golden paths)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52360" y="173278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17720" y="1965960"/>
            <a:ext cx="4160520" cy="242316"/>
          </a:xfrm>
          <a:prstGeom prst="rect">
            <a:avLst/>
          </a:prstGeom>
          <a:solidFill>
            <a:srgbClr val="DCE6F1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1965960"/>
            <a:ext cx="50292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45736" y="20025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 &amp; scanning rules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52360" y="200253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17720" y="2235708"/>
            <a:ext cx="416052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2235708"/>
            <a:ext cx="50292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45736" y="22722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(Vault)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52360" y="227228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617720" y="2505456"/>
            <a:ext cx="4160520" cy="242316"/>
          </a:xfrm>
          <a:prstGeom prst="rect">
            <a:avLst/>
          </a:prstGeom>
          <a:solidFill>
            <a:srgbClr val="DCE6F1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17720" y="2505456"/>
            <a:ext cx="50292" cy="2423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45736" y="25420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52360" y="254203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617720" y="2775204"/>
            <a:ext cx="4160520" cy="242316"/>
          </a:xfrm>
          <a:prstGeom prst="rect">
            <a:avLst/>
          </a:prstGeom>
          <a:solidFill>
            <a:srgbClr val="E2EFDA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17720" y="2775204"/>
            <a:ext cx="50292" cy="24231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45736" y="28117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code &amp; feature delivery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452360" y="28117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17720" y="3044952"/>
            <a:ext cx="416052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3044952"/>
            <a:ext cx="50292" cy="24231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45736" y="30815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SLO targets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452360" y="308152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617720" y="3314700"/>
            <a:ext cx="4160520" cy="242316"/>
          </a:xfrm>
          <a:prstGeom prst="rect">
            <a:avLst/>
          </a:prstGeom>
          <a:solidFill>
            <a:srgbClr val="E2EFDA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17720" y="3314700"/>
            <a:ext cx="50292" cy="24231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45736" y="335127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budget ownership (per team)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452360" y="335127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617720" y="345643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GOVERNANCE MODEL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17720" y="3694176"/>
            <a:ext cx="969264" cy="749808"/>
          </a:xfrm>
          <a:prstGeom prst="rect">
            <a:avLst/>
          </a:prstGeom>
          <a:solidFill>
            <a:srgbClr val="EEF2F7"/>
          </a:solidFill>
          <a:ln w="9525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17720" y="3694176"/>
            <a:ext cx="969264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72584" y="374904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AWS Orgs /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Mgmt Groups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672584" y="411480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team owns hierarchy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641848" y="3694176"/>
            <a:ext cx="969264" cy="749808"/>
          </a:xfrm>
          <a:prstGeom prst="rect">
            <a:avLst/>
          </a:prstGeom>
          <a:solidFill>
            <a:srgbClr val="EEF2F7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641848" y="3694176"/>
            <a:ext cx="969264" cy="5029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96712" y="374904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Mandatory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standards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696712" y="411480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OPA enforced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665976" y="3694176"/>
            <a:ext cx="969264" cy="749808"/>
          </a:xfrm>
          <a:prstGeom prst="rect">
            <a:avLst/>
          </a:prstGeom>
          <a:solidFill>
            <a:srgbClr val="EEF2F7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665976" y="3694176"/>
            <a:ext cx="969264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720840" y="374904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New account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720840" y="411480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gate required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690104" y="3694176"/>
            <a:ext cx="969264" cy="749808"/>
          </a:xfrm>
          <a:prstGeom prst="rect">
            <a:avLst/>
          </a:prstGeom>
          <a:solidFill>
            <a:srgbClr val="EEF2F7"/>
          </a:solidFill>
          <a:ln w="9525">
            <a:solidFill>
              <a:srgbClr val="C00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7690104" y="3694176"/>
            <a:ext cx="969264" cy="502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44968" y="374904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Guardrail policies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SCPs / Azure Policy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744968" y="411480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bypasses without exception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" y="44439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product.  </a:t>
            </a:r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teams as customers.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ownership of everything they shouldn't have to think about.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Engineering Strategy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Team —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Proven, Execution-Focused Capability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4572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proposing a new approach. We are scaling a model that already works.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2682240" cy="1335024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55648"/>
            <a:ext cx="2682240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47088"/>
            <a:ext cx="249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 Multi-Account Migration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231136"/>
            <a:ext cx="249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end-to-end migration across multiple AWS accounts with no service disruption, on schedule and within scope.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57728" y="1755648"/>
            <a:ext cx="2682240" cy="1335024"/>
          </a:xfrm>
          <a:prstGeom prst="rect">
            <a:avLst/>
          </a:prstGeom>
          <a:solidFill>
            <a:srgbClr val="DCE6F1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7728" y="1755648"/>
            <a:ext cx="2682240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7456" y="1847088"/>
            <a:ext cx="249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Zero Data Loss. Secure Transfers.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7456" y="2231136"/>
            <a:ext cx="249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movement completed with full encryption, access controls, and audit trails — zero security incidents recorded.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9696" y="1755648"/>
            <a:ext cx="2682240" cy="1335024"/>
          </a:xfrm>
          <a:prstGeom prst="rect">
            <a:avLst/>
          </a:prstGeom>
          <a:solidFill>
            <a:srgbClr val="E8E6F5"/>
          </a:solidFill>
          <a:ln w="9525">
            <a:solidFill>
              <a:srgbClr val="8B80D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9696" y="1755648"/>
            <a:ext cx="2682240" cy="5029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9424" y="1847088"/>
            <a:ext cx="249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Production-Grade Platform Delivery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59424" y="2231136"/>
            <a:ext cx="249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hardened, observable, and scalable platform infrastructure — production-ready from day one.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9768" y="3218688"/>
            <a:ext cx="4078224" cy="1225296"/>
          </a:xfrm>
          <a:prstGeom prst="rect">
            <a:avLst/>
          </a:prstGeom>
          <a:solidFill>
            <a:srgbClr val="FFF2CC"/>
          </a:solidFill>
          <a:ln w="9525">
            <a:solidFill>
              <a:srgbClr val="FFC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3218688"/>
            <a:ext cx="4078224" cy="5029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331012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Full Lifecycle Ownership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" y="3657600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it end-to-end: design, build, migrate, operate, and continuously improve. No handoff gaps.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36008" y="3218688"/>
            <a:ext cx="4078224" cy="1225296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36008" y="3218688"/>
            <a:ext cx="4078224" cy="50292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331012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End-to-End Capability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64024" y="3657600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infrastructure, DevSecOps, observability, security, and operating model — one team, one standard.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439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proposal to build from scratch. </a:t>
            </a:r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proposal to scale what we have already proven works.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TOOLCHAIN TO 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Engineering Strategy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Delivers What —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Tools Mapped to Pillars &amp; Outcomes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solidFill>
            <a:srgbClr val="E8E6F5"/>
          </a:solidFill>
          <a:ln w="9525">
            <a:solidFill>
              <a:srgbClr val="8B80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50292" cy="274320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—  For technical audiences. Each pillar mapped to its toolchain, outcome, and honest caveat.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517904"/>
            <a:ext cx="1371600" cy="23774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536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0" y="1517904"/>
            <a:ext cx="3337560" cy="23774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153619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57800" y="1517904"/>
            <a:ext cx="2286000" cy="23774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1536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DELIVERED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35240" y="1517904"/>
            <a:ext cx="1417320" cy="23774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08392" y="15361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1792224"/>
            <a:ext cx="8686800" cy="640080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792224"/>
            <a:ext cx="50292" cy="6400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186537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1874520"/>
            <a:ext cx="3200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9384" y="1901952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zones, EKS/AKS, reusable modules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74520" y="2130552"/>
            <a:ext cx="32004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9384" y="2157984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Bitbucket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source of truth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186537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infra across AWS + Azure from day one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680960" y="1865376"/>
            <a:ext cx="1335024" cy="512064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35824" y="1883664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module usage — restrict console access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2468880"/>
            <a:ext cx="86868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468880"/>
            <a:ext cx="5029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254203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74520" y="2551176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9384" y="257860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build, test, scan trigger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20440" y="2551176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75304" y="257860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approvals, canary, rollback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74520" y="2807208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9384" y="2834640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CheckmarxOne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DAST, container scanning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20440" y="2807208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75304" y="2834640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secrets management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03520" y="254203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path pipelines with security built in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680960" y="2542032"/>
            <a:ext cx="1335024" cy="512064"/>
          </a:xfrm>
          <a:prstGeom prst="rect">
            <a:avLst/>
          </a:prstGeom>
          <a:solidFill>
            <a:srgbClr val="FFF2CC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35824" y="2560320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 needs tuning — raw output creates alert fatigue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5760" y="3145536"/>
            <a:ext cx="8686800" cy="640080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145536"/>
            <a:ext cx="50292" cy="640080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321868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74520" y="3227832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9384" y="3255264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APM, SLOs, alerting (preferred)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520440" y="3227832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75304" y="3255264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alternative — metrics &amp; dashboards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874520" y="3483864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9384" y="3511296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routing &amp; approval gates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03520" y="321868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 — metrics, logs, traces, SLO alerting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680960" y="3218688"/>
            <a:ext cx="1335024" cy="512064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35824" y="3236976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mandate required across all services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65760" y="3822192"/>
            <a:ext cx="86868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3822192"/>
            <a:ext cx="50292" cy="640080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064" y="389534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74520" y="3904488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29384" y="3931920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Explorer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spend visibility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520440" y="3904488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75304" y="3931920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Management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budgets &amp; alerts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874520" y="4160520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29384" y="4187952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approval gates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520440" y="4160520"/>
            <a:ext cx="1572768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75304" y="4187952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Sentinel / OPA  </a:t>
            </a:r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 enforcement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303520" y="389534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spend, auditable provisioning, no shadow IT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680960" y="3895344"/>
            <a:ext cx="1335024" cy="512064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35824" y="3913632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ownership must be assigned per team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44439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toolchain is credible.  </a:t>
            </a:r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caveats are manageable.  </a:t>
            </a:r>
            <a:pPr algn="ctr"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model is the real delivery mechanism.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·  THE DEVELOPER JOURNEY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Engineering Strategy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Production —</a:t>
            </a:r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Developer vs. Platform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256032"/>
          </a:xfrm>
          <a:prstGeom prst="rect">
            <a:avLst/>
          </a:prstGeom>
          <a:solidFill>
            <a:srgbClr val="E8E6F5"/>
          </a:solidFill>
          <a:ln w="9525">
            <a:solidFill>
              <a:srgbClr val="8B80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50292" cy="25603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79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—  End-to-end flow from code commit to production. What developers touch vs. what the platform handles invisibly.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1463040" cy="201168"/>
          </a:xfrm>
          <a:prstGeom prst="rect">
            <a:avLst/>
          </a:prstGeom>
          <a:solidFill>
            <a:srgbClr val="DCE6F1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527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touches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20240" y="1508760"/>
            <a:ext cx="1645920" cy="201168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75104" y="152704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handles invisibly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0" y="1508760"/>
            <a:ext cx="1645920" cy="201168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52704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 / approval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197864" y="1691640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7864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0896" y="1783080"/>
            <a:ext cx="1115568" cy="804672"/>
          </a:xfrm>
          <a:prstGeom prst="rect">
            <a:avLst/>
          </a:prstGeom>
          <a:solidFill>
            <a:srgbClr val="DCE6F1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" y="1783080"/>
            <a:ext cx="1115568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8562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218541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0896" y="2587752"/>
            <a:ext cx="1115568" cy="256032"/>
          </a:xfrm>
          <a:prstGeom prst="rect">
            <a:avLst/>
          </a:prstGeom>
          <a:solidFill>
            <a:srgbClr val="1F3864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61518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444752" y="2185416"/>
            <a:ext cx="91440" cy="0"/>
          </a:xfrm>
          <a:prstGeom prst="line">
            <a:avLst/>
          </a:prstGeom>
          <a:noFill/>
          <a:ln w="19050">
            <a:solidFill>
              <a:srgbClr val="ADB9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17904" y="2139696"/>
            <a:ext cx="18288" cy="91440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23160" y="1691640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536192" y="1783080"/>
            <a:ext cx="1115568" cy="804672"/>
          </a:xfrm>
          <a:prstGeom prst="rect">
            <a:avLst/>
          </a:prstGeom>
          <a:solidFill>
            <a:srgbClr val="DCE6F1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536192" y="1783080"/>
            <a:ext cx="1115568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91056" y="18562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591056" y="218541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536192" y="2587752"/>
            <a:ext cx="1115568" cy="256032"/>
          </a:xfrm>
          <a:prstGeom prst="rect">
            <a:avLst/>
          </a:prstGeom>
          <a:solidFill>
            <a:srgbClr val="1F3864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72768" y="261518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670048" y="2185416"/>
            <a:ext cx="91440" cy="0"/>
          </a:xfrm>
          <a:prstGeom prst="line">
            <a:avLst/>
          </a:prstGeom>
          <a:noFill/>
          <a:ln w="19050">
            <a:solidFill>
              <a:srgbClr val="ADB9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0" y="2139696"/>
            <a:ext cx="18288" cy="91440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48456" y="1691640"/>
            <a:ext cx="201168" cy="201168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48456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61488" y="1783080"/>
            <a:ext cx="1115568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61488" y="1783080"/>
            <a:ext cx="1115568" cy="50292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16352" y="18562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816352" y="218541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DAST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61488" y="2587752"/>
            <a:ext cx="1115568" cy="256032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98064" y="261518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CheckmarxOne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895344" y="2185416"/>
            <a:ext cx="91440" cy="0"/>
          </a:xfrm>
          <a:prstGeom prst="line">
            <a:avLst/>
          </a:prstGeom>
          <a:noFill/>
          <a:ln w="19050">
            <a:solidFill>
              <a:srgbClr val="ADB9C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68496" y="2139696"/>
            <a:ext cx="18288" cy="91440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73752" y="1691640"/>
            <a:ext cx="201168" cy="201168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986784" y="1783080"/>
            <a:ext cx="1115568" cy="804672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986784" y="1783080"/>
            <a:ext cx="1115568" cy="50292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41648" y="18562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041648" y="218541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986784" y="2587752"/>
            <a:ext cx="1115568" cy="256032"/>
          </a:xfrm>
          <a:prstGeom prst="rect">
            <a:avLst/>
          </a:prstGeom>
          <a:solidFill>
            <a:srgbClr val="7F6000"/>
          </a:solidFill>
          <a:ln w="9525">
            <a:solidFill>
              <a:srgbClr val="BF8F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0" y="261518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Harness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120640" y="2185416"/>
            <a:ext cx="91440" cy="0"/>
          </a:xfrm>
          <a:prstGeom prst="line">
            <a:avLst/>
          </a:prstGeom>
          <a:noFill/>
          <a:ln w="19050">
            <a:solidFill>
              <a:srgbClr val="ADB9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93792" y="2139696"/>
            <a:ext cx="18288" cy="91440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99048" y="1691640"/>
            <a:ext cx="201168" cy="201168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99048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212080" y="1783080"/>
            <a:ext cx="1115568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212080" y="1783080"/>
            <a:ext cx="1115568" cy="50292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66944" y="18562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266944" y="218541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212080" y="2587752"/>
            <a:ext cx="1115568" cy="256032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48656" y="261518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345936" y="2185416"/>
            <a:ext cx="91440" cy="0"/>
          </a:xfrm>
          <a:prstGeom prst="line">
            <a:avLst/>
          </a:prstGeom>
          <a:noFill/>
          <a:ln w="19050">
            <a:solidFill>
              <a:srgbClr val="ADB9C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19088" y="2139696"/>
            <a:ext cx="18288" cy="91440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24344" y="1691640"/>
            <a:ext cx="201168" cy="201168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24344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437376" y="1783080"/>
            <a:ext cx="1115568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437376" y="1783080"/>
            <a:ext cx="1115568" cy="50292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92240" y="18562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492240" y="218541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hardcoding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437376" y="2587752"/>
            <a:ext cx="1115568" cy="256032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73952" y="261518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571232" y="2185416"/>
            <a:ext cx="91440" cy="0"/>
          </a:xfrm>
          <a:prstGeom prst="line">
            <a:avLst/>
          </a:prstGeom>
          <a:noFill/>
          <a:ln w="19050">
            <a:solidFill>
              <a:srgbClr val="ADB9C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44384" y="2139696"/>
            <a:ext cx="18288" cy="91440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49640" y="1691640"/>
            <a:ext cx="201168" cy="201168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49640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662672" y="1783080"/>
            <a:ext cx="1115568" cy="804672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662672" y="1783080"/>
            <a:ext cx="1115568" cy="50292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17536" y="18562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717536" y="218541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· SLOs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662672" y="2587752"/>
            <a:ext cx="1115568" cy="256032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99248" y="261518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10896" y="2944368"/>
            <a:ext cx="8522208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0896" y="299923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 — always running beneath every deployment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10896" y="3218688"/>
            <a:ext cx="1371600" cy="640080"/>
          </a:xfrm>
          <a:prstGeom prst="rect">
            <a:avLst/>
          </a:prstGeom>
          <a:solidFill>
            <a:srgbClr val="EEF2F7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310896" y="3218688"/>
            <a:ext cx="1371600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4048" y="3273552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Vault secrets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737360" y="3218688"/>
            <a:ext cx="1371600" cy="640080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737360" y="3218688"/>
            <a:ext cx="137160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810512" y="3273552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Terraform IaC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163824" y="3218688"/>
            <a:ext cx="1371600" cy="640080"/>
          </a:xfrm>
          <a:prstGeom prst="rect">
            <a:avLst/>
          </a:prstGeom>
          <a:solidFill>
            <a:srgbClr val="EEF2F7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3163824" y="3218688"/>
            <a:ext cx="1371600" cy="5029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36976" y="3273552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Policy as 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/ OPA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590288" y="3218688"/>
            <a:ext cx="1371600" cy="640080"/>
          </a:xfrm>
          <a:prstGeom prst="rect">
            <a:avLst/>
          </a:prstGeom>
          <a:solidFill>
            <a:srgbClr val="EEF2F7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4590288" y="3218688"/>
            <a:ext cx="1371600" cy="5029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663440" y="3273552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tagging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016752" y="3218688"/>
            <a:ext cx="1371600" cy="640080"/>
          </a:xfrm>
          <a:prstGeom prst="rect">
            <a:avLst/>
          </a:prstGeom>
          <a:solidFill>
            <a:srgbClr val="EEF2F7"/>
          </a:solidFill>
          <a:ln w="9525">
            <a:solidFill>
              <a:srgbClr val="3A30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016752" y="3218688"/>
            <a:ext cx="1371600" cy="5029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089904" y="3273552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Unified observability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/ Grafana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443216" y="3218688"/>
            <a:ext cx="1371600" cy="640080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7443216" y="3218688"/>
            <a:ext cx="137160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516368" y="3273552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SLO alerting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routing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65760" y="3749040"/>
            <a:ext cx="8412480" cy="420624"/>
          </a:xfrm>
          <a:prstGeom prst="rect">
            <a:avLst/>
          </a:prstGeom>
          <a:solidFill>
            <a:srgbClr val="DCE6F1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5760" y="3749040"/>
            <a:ext cx="50292" cy="4206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2064" y="3803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experience: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actions — commit code, merge PR.  </a:t>
            </a:r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the platform.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pipeline assembly, no secrets wrangling, no manual approvals, no ad-hoc scanning.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02920" y="44439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platform is invisible to developers — and that is exactly the point."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Platform Engineering Strategy</dc:title>
  <dc:subject>PptxGenJS Presentation</dc:subject>
  <dc:creator>PptxGenJS</dc:creator>
  <cp:lastModifiedBy>PptxGenJS</cp:lastModifiedBy>
  <cp:revision>1</cp:revision>
  <dcterms:created xsi:type="dcterms:W3CDTF">2026-03-23T11:03:48Z</dcterms:created>
  <dcterms:modified xsi:type="dcterms:W3CDTF">2026-03-23T11:03:48Z</dcterms:modified>
</cp:coreProperties>
</file>