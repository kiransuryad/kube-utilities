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 ·  UNIFIED DEVSECOPS OPERATING MODEL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DevSecOps Operating Model —</a:t>
            </a:r>
            <a:pPr indent="0" marL="0">
              <a:buNone/>
            </a:pPr>
            <a:r>
              <a:rPr lang="en-US" sz="2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Isolated Improvements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457200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connect these initiatives into a unified DevSecOps operating model rather than treating them as isolated improvements.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1737360"/>
            <a:ext cx="1572768" cy="1572768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1737360"/>
            <a:ext cx="1572768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" y="1810512"/>
            <a:ext cx="256032" cy="256032"/>
          </a:xfrm>
          <a:prstGeom prst="ellipse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0624" y="2084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20624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0624" y="29260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· Harness · Terraform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2029968" y="1737360"/>
            <a:ext cx="1572768" cy="1572768"/>
          </a:xfrm>
          <a:prstGeom prst="rect">
            <a:avLst/>
          </a:prstGeom>
          <a:solidFill>
            <a:srgbClr val="E8E6F5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029968" y="1737360"/>
            <a:ext cx="1572768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03120" y="1810512"/>
            <a:ext cx="256032" cy="256032"/>
          </a:xfrm>
          <a:prstGeom prst="ellipse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03120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84832" y="2084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084832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Design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084832" y="29260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· CX1 · IAM Integration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694176" y="1737360"/>
            <a:ext cx="1572768" cy="1572768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94176" y="1737360"/>
            <a:ext cx="1572768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67328" y="1810512"/>
            <a:ext cx="256032" cy="256032"/>
          </a:xfrm>
          <a:prstGeom prst="ellipse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67328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2084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749040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749040" y="29260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· Metrics · Logs · SLOs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5358384" y="1737360"/>
            <a:ext cx="1572768" cy="1572768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358384" y="1737360"/>
            <a:ext cx="1572768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31536" y="1810512"/>
            <a:ext cx="256032" cy="256032"/>
          </a:xfrm>
          <a:prstGeom prst="ellipse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31536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413248" y="2084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5413248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413248" y="29260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· Harness · Audit Trail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22592" y="1737360"/>
            <a:ext cx="1572768" cy="1572768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022592" y="1737360"/>
            <a:ext cx="1572768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095744" y="1810512"/>
            <a:ext cx="256032" cy="256032"/>
          </a:xfrm>
          <a:prstGeom prst="ellipse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95744" y="18105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077456" y="2084832"/>
            <a:ext cx="14813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7077456" y="2523744"/>
            <a:ext cx="14813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077456" y="2926080"/>
            <a:ext cx="14813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· Attribution · Alerting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1920240" y="2468880"/>
            <a:ext cx="128016" cy="36576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93392" y="2414016"/>
            <a:ext cx="36576" cy="146304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84448" y="2468880"/>
            <a:ext cx="128016" cy="36576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657600" y="2414016"/>
            <a:ext cx="36576" cy="146304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248656" y="2468880"/>
            <a:ext cx="128016" cy="36576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21808" y="2414016"/>
            <a:ext cx="36576" cy="146304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12864" y="2468880"/>
            <a:ext cx="128016" cy="36576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86016" y="2414016"/>
            <a:ext cx="36576" cy="146304"/>
          </a:xfrm>
          <a:prstGeom prst="rect">
            <a:avLst/>
          </a:prstGeom>
          <a:solidFill>
            <a:srgbClr val="ADB9CA"/>
          </a:solidFill>
          <a:ln w="12700">
            <a:solidFill>
              <a:srgbClr val="ADB9C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" y="341985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APPROACH ENABLES — WITHOUT CHANGING ANY PLATFORM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365760" y="365760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3657600"/>
            <a:ext cx="50292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12064" y="36941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CI/CD standardised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29968" y="365760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029968" y="3657600"/>
            <a:ext cx="50292" cy="34747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176272" y="36941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Security centralised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694176" y="365760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94176" y="3657600"/>
            <a:ext cx="5029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840480" y="36941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Observability unified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5358384" y="365760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358384" y="3657600"/>
            <a:ext cx="50292" cy="34747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504688" y="36941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Governance consistent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7022592" y="3657600"/>
            <a:ext cx="157276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7022592" y="3657600"/>
            <a:ext cx="50292" cy="34747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168896" y="3694176"/>
            <a:ext cx="1389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Cost visible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365760" y="4370832"/>
            <a:ext cx="8412480" cy="530352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0292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capability below is detailed with: </a:t>
            </a:r>
            <a:pPr algn="ctr" indent="0" marL="0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 · outcomes · benefits · worked examples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1  ·  CONTROLLED DELIVERY ACROSS ALL PLATFORMS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Controlled Delivery Across All Platforms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across all tools goes through a controlled, standardised pipeline.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3017520" cy="325526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54480"/>
            <a:ext cx="301752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standardisation across all teams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 orchestration — approvals, rollout, rollback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pipelines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as Code — controlled changes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path templates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pipelines reused across all teams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9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as source of truth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changes version-controlled and traceable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1554480"/>
            <a:ext cx="21031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1554480"/>
            <a:ext cx="2103120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459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4448" y="1883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Elimination of manual deployments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84448" y="21762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release processes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environment drift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84448" y="2834640"/>
            <a:ext cx="193852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077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4448" y="3127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Predictable, repeatable delivery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8444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Reduced operational risk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Faster team onboarding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1554480"/>
            <a:ext cx="3072384" cy="3255264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05856" y="1554480"/>
            <a:ext cx="307238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883664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7296" y="1883664"/>
            <a:ext cx="50292" cy="1335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GitHub Actions Migration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Standardised GHA templates across all teams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0702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Built-in stages: build → test → CX1 scan → deploy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702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Centralised governance of pipeline structure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889504"/>
            <a:ext cx="2907792" cy="274320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without disrupting current workflows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97296" y="3310128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1F386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97296" y="3310128"/>
            <a:ext cx="50292" cy="133502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Infrastructure Change Deployment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0702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Terraform changes via controlled pipelines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validation &amp; approvals before deploy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07024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Rollback capability integrated via Harness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4315968"/>
            <a:ext cx="2907792" cy="274320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Safe, traceable infrastructure changes across environments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change across all tools goes through a controlled, standardised pipeline.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2  ·  SECURITY BY DESIGN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by Design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10896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become audit-ready without changing your platforms.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3017520" cy="325526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54480"/>
            <a:ext cx="301752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AWS Secrets Mgr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secrets — automated lifecycle &amp; rotation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CX1 (Checkmarx)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SAST, DAST, IaC, dependency &amp; container scanning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security gates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on critical vulnerabilities — policy-driven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/ identity integration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— standard patterns across tools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9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secrets injection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hardcoded credentials — ever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1554480"/>
            <a:ext cx="21031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1554480"/>
            <a:ext cx="2103120" cy="50292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459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4448" y="1883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traceability of access &amp; changes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84448" y="21762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Elimination of hardcoded credentials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security posture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84448" y="2834640"/>
            <a:ext cx="193852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077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4448" y="3127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Audit-ready environment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8444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Reduced security risk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Centralised governance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1554480"/>
            <a:ext cx="3072384" cy="3255264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05856" y="1554480"/>
            <a:ext cx="307238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883664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7296" y="1883664"/>
            <a:ext cx="50292" cy="133502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Password Rotation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rotation via Vault / Secrets Manager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0702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Runtime injection into apps and pipelines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702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audit logging of all access and usage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889504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manual dependency and reduces failure risk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97296" y="3310128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3A307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97296" y="3310128"/>
            <a:ext cx="50292" cy="1335024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CX1 Pipeline Integration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0702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CX1 integrated directly into CI pipelines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Policy gates: block builds on critical vulns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07024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Standardised thresholds and exception workflows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4315968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enforced automatically across all teams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become audit-ready without changing your platforms.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3  ·  UNIFIED OBSERVABILITY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Unified Observability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10896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 everything — without touching your core systems.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3017520" cy="325526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54480"/>
            <a:ext cx="301752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Dynatrace (preferred)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APM, SLOs, intelligent alerting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stack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 + Grafana — valid alternative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metrics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success/failure, performance, latency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log aggregation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logs in one place — searchable, correlated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9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SLO-driven alerting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over noise — actionable alerts only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1554480"/>
            <a:ext cx="21031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1554480"/>
            <a:ext cx="2103120" cy="50292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459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4448" y="1883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End-to-end visibility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84448" y="21762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Faster incident detection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operational silos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84448" y="2834640"/>
            <a:ext cx="193852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077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4448" y="3127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Lower MTTR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8444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Proactive issue management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Improved service reliability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1554480"/>
            <a:ext cx="3072384" cy="3255264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05856" y="1554480"/>
            <a:ext cx="307238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883664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7296" y="1883664"/>
            <a:ext cx="50292" cy="13350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Pipeline Failure Diagnosis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Single observability dashboard for all pipelines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0702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Correlated view: execution + deployment + infra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702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Alert includes full failure context automatically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889504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debugging time significantly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97296" y="3310128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97296" y="3310128"/>
            <a:ext cx="50292" cy="133502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Production Incident Response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0702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Unified alerting via Dynatrace SLO-based rules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End-to-end trace visibility across all services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07024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Actionable insights — not just raw alerts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4315968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and more reliable incident resolution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to see everything — without touching your core systems.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4  ·  CONTROLLED CHANGE &amp;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Controlled Change &amp; Governance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10896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change without slowing teams.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3017520" cy="325526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54480"/>
            <a:ext cx="301752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integration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approval workflows — ITSM compliance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pipeline approvals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 automated gates before promotion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promotion: Dev→NonProd→Prod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Standard, enforced across all teams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traceability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changed what, when, through which pipeline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9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deployment captured — compliance-ready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1554480"/>
            <a:ext cx="21031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1554480"/>
            <a:ext cx="2103120" cy="50292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459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4448" y="1883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release governance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84448" y="21762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Reduced deployment risk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Complete audit trail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84448" y="2834640"/>
            <a:ext cx="193852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077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4448" y="3127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Compliance-ready delivery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8444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Increased deployment confidence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slowdown in delivery speed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1554480"/>
            <a:ext cx="3072384" cy="3255264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05856" y="1554480"/>
            <a:ext cx="307238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883664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7296" y="1883664"/>
            <a:ext cx="50292" cy="13350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Production Deployment Governance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ServiceNow approval integration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0702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Controlled deployment orchestrated via Harness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702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Full audit trail captured end-to-end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889504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without impacting delivery speed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97296" y="3310128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37562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97296" y="3310128"/>
            <a:ext cx="50292" cy="133502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Cross-Team Deployment Consistency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0702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Standardised deployment workflow across teams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Uniform governance enforced via pipelines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07024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No team-specific exceptions or workarounds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4315968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 without changing team ownership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change without slowing teams.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5  ·  COST VISIBILITY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Visibility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310896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70432"/>
            <a:ext cx="50292" cy="310896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2064" y="11978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executive value without disruption.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65760" y="1554480"/>
            <a:ext cx="3017520" cy="3255264"/>
          </a:xfrm>
          <a:prstGeom prst="rect">
            <a:avLst/>
          </a:prstGeom>
          <a:solidFill>
            <a:srgbClr val="EEF2F7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1554480"/>
            <a:ext cx="3017520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2871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INTRODUCE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57200" y="1883664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920240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standards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Terraform-enforced — no untagged resource deployed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2286000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322576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team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sees their own spend — clear ownership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57200" y="2688336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24912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environment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vs. Non-Prod vs. Prod — full breakdown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090672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127248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by workload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pipeline and service — identify inefficiencies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57200" y="3493008"/>
            <a:ext cx="2852928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529584"/>
            <a:ext cx="2688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alerts &amp; governance  </a:t>
            </a:r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alerts before overspend — automated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493008" y="1554480"/>
            <a:ext cx="2103120" cy="3255264"/>
          </a:xfrm>
          <a:prstGeom prst="rect">
            <a:avLst/>
          </a:prstGeom>
          <a:solidFill>
            <a:srgbClr val="FFFFFF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93008" y="1554480"/>
            <a:ext cx="2103120" cy="50292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84448" y="1645920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584448" y="18836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Clear cost ownership per team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584448" y="217627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Identification of inefficiencies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3584448" y="246888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Data-driven decision making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84448" y="2834640"/>
            <a:ext cx="1938528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2907792"/>
            <a:ext cx="19568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584448" y="3127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Improved financial governance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584448" y="341985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Better cost control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3584448" y="371246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No platform changes required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705856" y="1554480"/>
            <a:ext cx="3072384" cy="3255264"/>
          </a:xfrm>
          <a:prstGeom prst="rect">
            <a:avLst/>
          </a:prstGeom>
          <a:solidFill>
            <a:srgbClr val="F5F5F5"/>
          </a:solidFill>
          <a:ln w="9525">
            <a:solidFill>
              <a:srgbClr val="D6DCE4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705856" y="1554480"/>
            <a:ext cx="3072384" cy="5029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97296" y="1645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797296" y="1883664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5797296" y="1883664"/>
            <a:ext cx="50292" cy="1335024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07024" y="19385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— Cost Ownership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907024" y="21579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Costs mapped to teams via enforced tagging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07024" y="235915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Visibility per environment and per workload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907024" y="25603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Finance teams self-serve — no manual reporting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797296" y="2889504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91693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accountability and proactive optimisation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5797296" y="3310128"/>
            <a:ext cx="2907792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7F60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797296" y="3310128"/>
            <a:ext cx="50292" cy="1335024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07024" y="336499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— Budget Control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907024" y="3584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Budget alerts configured per team and service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5907024" y="37856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Automated tracking and reporting dashboards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07024" y="39867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Prevent unexpected cost escalation proactively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5797296" y="4315968"/>
            <a:ext cx="2907792" cy="274320"/>
          </a:xfrm>
          <a:prstGeom prst="rect">
            <a:avLst/>
          </a:prstGeom>
          <a:solidFill>
            <a:srgbClr val="EEF2F7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07024" y="43434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unexpected cost escalation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365760" y="4572000"/>
            <a:ext cx="8412480" cy="329184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5994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Proposition: </a:t>
            </a:r>
            <a:pPr algn="ctr"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executive value without disruption.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54864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 ·  WHAT THIS APPROACH ENABLES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412480" y="9144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956048"/>
            <a:ext cx="9144000" cy="18288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498348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08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 — DevSecOps Enablement  ·  Confidential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65760" y="621792"/>
            <a:ext cx="8412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Approach Enables —</a:t>
            </a:r>
            <a:pPr indent="0" marL="0">
              <a:buNone/>
            </a:pPr>
            <a:r>
              <a:rPr lang="en-US" sz="24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Without Changing Any Platform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1078992"/>
            <a:ext cx="8412480" cy="22860"/>
          </a:xfrm>
          <a:prstGeom prst="rect">
            <a:avLst/>
          </a:prstGeom>
          <a:solidFill>
            <a:srgbClr val="D6DCE4"/>
          </a:solidFill>
          <a:ln w="12700">
            <a:solidFill>
              <a:srgbClr val="D6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170432"/>
            <a:ext cx="841248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20700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capabilities. One unified operating model. Zero platform disruption.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536192"/>
            <a:ext cx="1463040" cy="256032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563624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901952" y="1536192"/>
            <a:ext cx="3291840" cy="256032"/>
          </a:xfrm>
          <a:prstGeom prst="rect">
            <a:avLst/>
          </a:prstGeom>
          <a:solidFill>
            <a:srgbClr val="C00000"/>
          </a:solidFill>
          <a:ln w="9525">
            <a:solidFill>
              <a:srgbClr val="C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5104" y="1563624"/>
            <a:ext cx="3145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266944" y="1536192"/>
            <a:ext cx="3511296" cy="256032"/>
          </a:xfrm>
          <a:prstGeom prst="rect">
            <a:avLst/>
          </a:prstGeom>
          <a:solidFill>
            <a:srgbClr val="375623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0096" y="1563624"/>
            <a:ext cx="3364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1810512"/>
            <a:ext cx="1463040" cy="475488"/>
          </a:xfrm>
          <a:prstGeom prst="rect">
            <a:avLst/>
          </a:prstGeom>
          <a:solidFill>
            <a:srgbClr val="DCE6F1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1810512"/>
            <a:ext cx="50292" cy="47548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" y="1883664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Controlled Delivery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1901952" y="1810512"/>
            <a:ext cx="3291840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1952" y="1810512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29968" y="1883664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ad-hoc deployments — different per team and tool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266944" y="1810512"/>
            <a:ext cx="3511296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266944" y="1810512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883664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 CI/CD via GitHub Actions + Harness across all platforms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5760" y="2331720"/>
            <a:ext cx="1463040" cy="475488"/>
          </a:xfrm>
          <a:prstGeom prst="rect">
            <a:avLst/>
          </a:prstGeom>
          <a:solidFill>
            <a:srgbClr val="E8E6F5"/>
          </a:solidFill>
          <a:ln w="9525">
            <a:solidFill>
              <a:srgbClr val="3A307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2331720"/>
            <a:ext cx="50292" cy="475488"/>
          </a:xfrm>
          <a:prstGeom prst="rect">
            <a:avLst/>
          </a:prstGeom>
          <a:solidFill>
            <a:srgbClr val="3A3072"/>
          </a:solidFill>
          <a:ln w="12700">
            <a:solidFill>
              <a:srgbClr val="3A30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" y="2404872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A30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Security by Design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901952" y="2331720"/>
            <a:ext cx="3291840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01952" y="2331720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9968" y="2404872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credentials, inconsistent scanning, no audit trail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266944" y="2331720"/>
            <a:ext cx="3511296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266944" y="2331720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94960" y="2404872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Vault-managed secrets, CX1 in every pipeline, full access audit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65760" y="2852928"/>
            <a:ext cx="1463040" cy="475488"/>
          </a:xfrm>
          <a:prstGeom prst="rect">
            <a:avLst/>
          </a:prstGeom>
          <a:solidFill>
            <a:srgbClr val="EEF2F7"/>
          </a:solidFill>
          <a:ln w="9525">
            <a:solidFill>
              <a:srgbClr val="2E75B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2852928"/>
            <a:ext cx="50292" cy="475488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2064" y="2926080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 Unified Observability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901952" y="2852928"/>
            <a:ext cx="3291840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01952" y="2852928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29968" y="2926080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logs — CloudWatch, Databricks, Snowflake all separate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266944" y="2852928"/>
            <a:ext cx="3511296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266944" y="2852928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94960" y="2926080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(Dynatrace / OSS), SLO-driven alerting, full trace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65760" y="3374136"/>
            <a:ext cx="1463040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37562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3374136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12064" y="3447288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Change &amp; Governance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901952" y="3374136"/>
            <a:ext cx="3291840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01952" y="3374136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029968" y="3447288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approvals, limited traceability, inconsistent processes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5266944" y="3374136"/>
            <a:ext cx="3511296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266944" y="3374136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447288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+ Harness — governed Dev→NonProd→Prod with audit trail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65760" y="3895344"/>
            <a:ext cx="1463040" cy="475488"/>
          </a:xfrm>
          <a:prstGeom prst="rect">
            <a:avLst/>
          </a:prstGeom>
          <a:solidFill>
            <a:srgbClr val="FFF2CC"/>
          </a:solidFill>
          <a:ln w="9525">
            <a:solidFill>
              <a:srgbClr val="7F600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3895344"/>
            <a:ext cx="50292" cy="475488"/>
          </a:xfrm>
          <a:prstGeom prst="rect">
            <a:avLst/>
          </a:prstGeom>
          <a:solidFill>
            <a:srgbClr val="7F6000"/>
          </a:solidFill>
          <a:ln w="12700">
            <a:solidFill>
              <a:srgbClr val="7F6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12064" y="3968496"/>
            <a:ext cx="12435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7F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 Visibility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901952" y="3895344"/>
            <a:ext cx="3291840" cy="475488"/>
          </a:xfrm>
          <a:prstGeom prst="rect">
            <a:avLst/>
          </a:prstGeom>
          <a:solidFill>
            <a:srgbClr val="FCE4D6"/>
          </a:solidFill>
          <a:ln w="9525">
            <a:solidFill>
              <a:srgbClr val="F4B9A3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901952" y="3895344"/>
            <a:ext cx="50292" cy="475488"/>
          </a:xfrm>
          <a:prstGeom prst="rect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029968" y="3968496"/>
            <a:ext cx="3090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unknown until bill arrives — no team or workload attribution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5266944" y="3895344"/>
            <a:ext cx="3511296" cy="475488"/>
          </a:xfrm>
          <a:prstGeom prst="rect">
            <a:avLst/>
          </a:prstGeom>
          <a:solidFill>
            <a:srgbClr val="E2EFDA"/>
          </a:solidFill>
          <a:ln w="9525">
            <a:solidFill>
              <a:srgbClr val="70AD47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5266944" y="3895344"/>
            <a:ext cx="50292" cy="475488"/>
          </a:xfrm>
          <a:prstGeom prst="rect">
            <a:avLst/>
          </a:prstGeom>
          <a:solidFill>
            <a:srgbClr val="375623"/>
          </a:solidFill>
          <a:ln w="12700">
            <a:solidFill>
              <a:srgbClr val="37562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3968496"/>
            <a:ext cx="3310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E2E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Tagged, attributed by team/env/workload — budget alerts automated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365760" y="4517136"/>
            <a:ext cx="8412480" cy="402336"/>
          </a:xfrm>
          <a:prstGeom prst="rect">
            <a:avLst/>
          </a:prstGeom>
          <a:solidFill>
            <a:srgbClr val="1F3864"/>
          </a:solidFill>
          <a:ln w="9525">
            <a:solidFill>
              <a:srgbClr val="1F386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02920" y="4553712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DC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organisation continues using its existing platforms — </a:t>
            </a:r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operated as a single, controlled, and observable system.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Our Approach — DevSecOps Enablement</dc:title>
  <dc:subject>PptxGenJS Presentation</dc:subject>
  <dc:creator>PptxGenJS</dc:creator>
  <cp:lastModifiedBy>PptxGenJS</cp:lastModifiedBy>
  <cp:revision>1</cp:revision>
  <dcterms:created xsi:type="dcterms:W3CDTF">2026-03-26T10:38:04Z</dcterms:created>
  <dcterms:modified xsi:type="dcterms:W3CDTF">2026-03-26T10:38:04Z</dcterms:modified>
</cp:coreProperties>
</file>