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SLIDE 1  ·  THE PROBLEM &amp; THE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Delivery Today: </a:t>
            </a:r>
            <a:pPr indent="0" marL="0">
              <a:buNone/>
            </a:pPr>
            <a:r>
              <a:rPr lang="en-US" sz="280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Scalable… but Fragmented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253A6B"/>
          </a:solidFill>
          <a:ln w="12700">
            <a:solidFill>
              <a:srgbClr val="25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CURRENT REALITY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7764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98448"/>
            <a:ext cx="54864" cy="658368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53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Fragmented Platforms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AWS accounts + Azure subscriptions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landing zone or Kubernetes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397764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029968"/>
            <a:ext cx="54864" cy="658368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848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Inconsistent DevOps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CI/CD tools and pipeline designs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→ deployment risk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61488"/>
            <a:ext cx="397764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61488"/>
            <a:ext cx="54864" cy="658368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Security Gaps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TLS, scanning handled differently per team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complexity across environments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93008"/>
            <a:ext cx="397764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493008"/>
            <a:ext cx="54864" cy="658368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Limited Observability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silos (CloudWatch, App Insights, etc.)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SLO or incident visibility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1033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BUSINESS IMPACT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53128" y="1005840"/>
            <a:ext cx="18288" cy="3429000"/>
          </a:xfrm>
          <a:prstGeom prst="rect">
            <a:avLst/>
          </a:prstGeom>
          <a:solidFill>
            <a:srgbClr val="253A6B"/>
          </a:solidFill>
          <a:ln w="12700">
            <a:solidFill>
              <a:srgbClr val="25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298448"/>
            <a:ext cx="416052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1298448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353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Increased Risk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81728" y="1554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deployments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exposure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2029968"/>
            <a:ext cx="416052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26280" y="2029968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2084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Slower Delivery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2286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reinvent pipelines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onboarding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2761488"/>
            <a:ext cx="416052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2761488"/>
            <a:ext cx="54864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Higher Cost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81728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tooling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resource usage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3493008"/>
            <a:ext cx="4160520" cy="658368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26280" y="3493008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Operational Complexity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81728" y="3749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ownership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462272"/>
            <a:ext cx="9144000" cy="685800"/>
          </a:xfrm>
          <a:prstGeom prst="rect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organisation is running infrastructure, not a platform."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SLIDE 2  ·  THE STRATEGY &amp; THE FUTURE STATE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2918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Engineering Strategy </a:t>
            </a:r>
            <a:pPr indent="0" marL="0">
              <a:buNone/>
            </a:pPr>
            <a:r>
              <a:rPr lang="en-US" sz="260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+ Azure)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2E7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64008" cy="475488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50976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STRATEGY: Establish a Central Platform Engineering Function to deliver a unified, secure, and observable multi-cloud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4 STRATEGIC PILLARS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700784"/>
            <a:ext cx="1965960" cy="1783080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700784"/>
            <a:ext cx="19659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Platform Standardisation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AWS + Azure landing zones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EKS / AKS platform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as ingress baseline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 as foundation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41448" y="1700784"/>
            <a:ext cx="1965960" cy="1783080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700784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DevSecOps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213969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CI/CD templates (golden paths)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SAST, DAST, container scanning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(Vault / Key Vault)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71416" y="1700784"/>
            <a:ext cx="1965960" cy="1783080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71416" y="1700784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Unified Observability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62856" y="213969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monitoring model (Dynatrace or OSS)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logs, tracing standardised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SLO-driven alerting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01384" y="1700784"/>
            <a:ext cx="1965960" cy="1783080"/>
          </a:xfrm>
          <a:prstGeom prst="rect">
            <a:avLst/>
          </a:prstGeom>
          <a:solidFill>
            <a:srgbClr val="172040"/>
          </a:solidFill>
          <a:ln w="9525">
            <a:solidFill>
              <a:srgbClr val="25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01384" y="1700784"/>
            <a:ext cx="1965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1792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Operating Model Transformation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92824" y="213969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Team: infra, pipelines,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baseline, Day-2 operations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focus on delivery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657600"/>
            <a:ext cx="5029200" cy="502920"/>
          </a:xfrm>
          <a:prstGeom prst="rect">
            <a:avLst/>
          </a:prstGeom>
          <a:solidFill>
            <a:srgbClr val="0F2550"/>
          </a:solidFill>
          <a:ln w="12700">
            <a:solidFill>
              <a:srgbClr val="2E7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703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self-service, secure, and standardised platform where teams deploy faster with lower risk and full visibility."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3657600"/>
            <a:ext cx="886968" cy="502920"/>
          </a:xfrm>
          <a:prstGeom prst="rect">
            <a:avLst/>
          </a:prstGeom>
          <a:solidFill>
            <a:srgbClr val="172040"/>
          </a:solidFill>
          <a:ln w="12700">
            <a:solidFill>
              <a:srgbClr val="2E7CF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657600"/>
            <a:ext cx="886968" cy="4572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73075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Faster delivery
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pipelines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10528" y="3657600"/>
            <a:ext cx="886968" cy="502920"/>
          </a:xfrm>
          <a:prstGeom prst="rect">
            <a:avLst/>
          </a:prstGeom>
          <a:solidFill>
            <a:srgbClr val="172040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10528" y="3657600"/>
            <a:ext cx="886968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73075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Reduced risk
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security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43216" y="3657600"/>
            <a:ext cx="886968" cy="502920"/>
          </a:xfrm>
          <a:prstGeom prst="rect">
            <a:avLst/>
          </a:prstGeom>
          <a:solidFill>
            <a:srgbClr val="17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43216" y="3657600"/>
            <a:ext cx="8869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88936" y="373075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Full visibility
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75904" y="3657600"/>
            <a:ext cx="886968" cy="502920"/>
          </a:xfrm>
          <a:prstGeom prst="rect">
            <a:avLst/>
          </a:prstGeom>
          <a:solidFill>
            <a:srgbClr val="17204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75904" y="3657600"/>
            <a:ext cx="8869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3730752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Lower cost
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270248"/>
            <a:ext cx="9144000" cy="5715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270248"/>
            <a:ext cx="91440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61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already proven this model through successful migration. This strategy scales that success across the enterprise."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SLIDE 3  ·  HOW WE GET THERE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to </a:t>
            </a:r>
            <a:pPr indent="0" marL="0">
              <a:buNone/>
            </a:pPr>
            <a:r>
              <a:rPr lang="en-US" sz="260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Delivers What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1417320" cy="256032"/>
          </a:xfrm>
          <a:prstGeom prst="rect">
            <a:avLst/>
          </a:prstGeom>
          <a:solidFill>
            <a:srgbClr val="1A3A6B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32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PILLAR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20240" y="896112"/>
            <a:ext cx="3291840" cy="256032"/>
          </a:xfrm>
          <a:prstGeom prst="rect">
            <a:avLst/>
          </a:prstGeom>
          <a:solidFill>
            <a:srgbClr val="1A3A6B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9326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TOOLS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0" y="896112"/>
            <a:ext cx="2286000" cy="256032"/>
          </a:xfrm>
          <a:prstGeom prst="rect">
            <a:avLst/>
          </a:prstGeom>
          <a:solidFill>
            <a:srgbClr val="1A3A6B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932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OUTCOME DELIVERED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80960" y="896112"/>
            <a:ext cx="1371600" cy="256032"/>
          </a:xfrm>
          <a:prstGeom prst="rect">
            <a:avLst/>
          </a:prstGeom>
          <a:solidFill>
            <a:srgbClr val="1A3A6B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4112" y="932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HONEST CAVEAT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1207008"/>
            <a:ext cx="8641080" cy="658368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207008"/>
            <a:ext cx="54864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2618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65960" y="1275588"/>
            <a:ext cx="3154680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303020"/>
            <a:ext cx="3063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zones, EKS/AKS, reusable modules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5960" y="1559052"/>
            <a:ext cx="3154680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1586484"/>
            <a:ext cx="3063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Bitbucket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 all IaC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infra across AWS + Azure from day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80960" y="1280160"/>
            <a:ext cx="1325880" cy="512064"/>
          </a:xfrm>
          <a:prstGeom prst="rect">
            <a:avLst/>
          </a:prstGeom>
          <a:solidFill>
            <a:srgbClr val="0A102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2984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module usage — console access must be restricted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1480" y="1911096"/>
            <a:ext cx="8641080" cy="658368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1911096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196596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65960" y="1979676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9968" y="2007108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build, test, scan trigger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93592" y="1979676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007108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approvals, canary, rollback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2263140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968" y="2290572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CheckmarxOne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DAST, container scanning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93592" y="2263140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2290572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management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49240" y="198424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 pipelines with security built in, not bolted 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80960" y="1984248"/>
            <a:ext cx="1325880" cy="512064"/>
          </a:xfrm>
          <a:prstGeom prst="rect">
            <a:avLst/>
          </a:prstGeom>
          <a:solidFill>
            <a:srgbClr val="0A1020"/>
          </a:solidFill>
          <a:ln w="9525">
            <a:solidFill>
              <a:srgbClr val="E0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35824" y="20025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 needs tuning — raw output creates alert fatigue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2615184"/>
            <a:ext cx="8641080" cy="658368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2615184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267004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65960" y="2683764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271119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APM, SLOs, alerting (preferred)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93592" y="2683764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271119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alternative — metrics &amp; dashboards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65960" y="2967228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9968" y="2994660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routing &amp; approval gates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49240" y="26883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— metrics, logs, traces, SLO alerting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680960" y="2688336"/>
            <a:ext cx="1325880" cy="512064"/>
          </a:xfrm>
          <a:prstGeom prst="rect">
            <a:avLst/>
          </a:prstGeom>
          <a:solidFill>
            <a:srgbClr val="0A102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35824" y="27066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requires instrumentation mandate across all services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" y="3319272"/>
            <a:ext cx="8641080" cy="658368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3319272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37413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965960" y="3387852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29968" y="3415284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Cost Explorer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spend visibility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593592" y="3387852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415284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Management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Subscription-level budgets &amp; alerts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965960" y="3671316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29968" y="3698748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for provisioning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593592" y="3671316"/>
            <a:ext cx="1536192" cy="237744"/>
          </a:xfrm>
          <a:prstGeom prst="rect">
            <a:avLst/>
          </a:prstGeom>
          <a:solidFill>
            <a:srgbClr val="1A3A6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3698748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Sentinel / OPA  </a:t>
            </a:r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 enforcement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49240" y="3392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spend, auditable provisioning, no shadow IT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680960" y="3392424"/>
            <a:ext cx="1325880" cy="512064"/>
          </a:xfrm>
          <a:prstGeom prst="rect">
            <a:avLst/>
          </a:prstGeom>
          <a:solidFill>
            <a:srgbClr val="0A102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35824" y="34107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must assign budget ownership per team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0" y="4462272"/>
            <a:ext cx="9144000" cy="5715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5537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 is credible.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caveats are manageable. </a:t>
            </a:r>
            <a:pPr algn="ctr" indent="0" marL="0">
              <a:buNone/>
            </a:pPr>
            <a:r>
              <a:rPr lang="en-US" sz="110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model is the real delivery mechanism.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SLIDE 4  ·  THE DEVELOPER JOURNEY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Production — </a:t>
            </a:r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vs. Platform Responsibilities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164592" cy="16459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778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Developer touches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94560" y="877824"/>
            <a:ext cx="164592" cy="164592"/>
          </a:xfrm>
          <a:prstGeom prst="rect">
            <a:avLst/>
          </a:prstGeom>
          <a:solidFill>
            <a:srgbClr val="172040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877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Platform handles invisibly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0" y="877824"/>
            <a:ext cx="164592" cy="164592"/>
          </a:xfrm>
          <a:prstGeom prst="rect">
            <a:avLst/>
          </a:prstGeom>
          <a:solidFill>
            <a:srgbClr val="0A102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877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Automated gate / approval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1115568" cy="8229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7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33856" y="1060704"/>
            <a:ext cx="219456" cy="219456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code, open PR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2E7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31673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7218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1170432"/>
            <a:ext cx="1115568" cy="822960"/>
          </a:xfrm>
          <a:prstGeom prst="rect">
            <a:avLst/>
          </a:prstGeom>
          <a:solidFill>
            <a:srgbClr val="1A3A6B"/>
          </a:solidFill>
          <a:ln w="19050">
            <a:solidFill>
              <a:srgbClr val="2E7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68296" y="1060704"/>
            <a:ext cx="219456" cy="219456"/>
          </a:xfrm>
          <a:prstGeom prst="ellipse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6829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6362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6362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unit tests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50876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2E7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4533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5117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662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1170432"/>
            <a:ext cx="1115568" cy="822960"/>
          </a:xfrm>
          <a:prstGeom prst="rect">
            <a:avLst/>
          </a:prstGeom>
          <a:solidFill>
            <a:srgbClr val="1720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02736" y="1060704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9806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9806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· DAST · containers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CheckmarxOne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8561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4106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1170432"/>
            <a:ext cx="1115568" cy="822960"/>
          </a:xfrm>
          <a:prstGeom prst="rect">
            <a:avLst/>
          </a:prstGeom>
          <a:solidFill>
            <a:srgbClr val="0A102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37176" y="106070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3250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3250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change control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97764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1421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Harness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2005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7550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1170432"/>
            <a:ext cx="1115568" cy="822960"/>
          </a:xfrm>
          <a:prstGeom prst="rect">
            <a:avLst/>
          </a:prstGeom>
          <a:solidFill>
            <a:srgbClr val="1720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71616" y="1060704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7161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26694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6694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/ blue-green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21208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4865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5449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994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1170432"/>
            <a:ext cx="1115568" cy="822960"/>
          </a:xfrm>
          <a:prstGeom prst="rect">
            <a:avLst/>
          </a:prstGeom>
          <a:solidFill>
            <a:srgbClr val="1720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306056" y="1060704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0605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0138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0138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 — no hardcoding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4652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309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488936" y="1554480"/>
            <a:ext cx="182880" cy="0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44384" y="1508760"/>
            <a:ext cx="36576" cy="91440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80960" y="1170432"/>
            <a:ext cx="1115568" cy="822960"/>
          </a:xfrm>
          <a:prstGeom prst="rect">
            <a:avLst/>
          </a:prstGeom>
          <a:solidFill>
            <a:srgbClr val="172040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540496" y="1060704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40496" y="1060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35824" y="12161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735824" y="156362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traces · SLOs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680960" y="1993392"/>
            <a:ext cx="1115568" cy="237744"/>
          </a:xfrm>
          <a:prstGeom prst="rect">
            <a:avLst/>
          </a:prstGeom>
          <a:solidFill>
            <a:srgbClr val="0D162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17536" y="20116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4320" y="2359152"/>
            <a:ext cx="8595360" cy="36576"/>
          </a:xfrm>
          <a:prstGeom prst="rect">
            <a:avLst/>
          </a:prstGeom>
          <a:solidFill>
            <a:srgbClr val="253A6B"/>
          </a:solidFill>
          <a:ln w="12700">
            <a:solidFill>
              <a:srgbClr val="253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24323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PLATFORM LAYER — always running beneath every deployment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74320" y="2660904"/>
            <a:ext cx="135331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Secrets 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Vault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82496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2E7CF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682496" y="2660904"/>
            <a:ext cx="1353312" cy="4572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755648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IaC via Terraform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090672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090672" y="2660904"/>
            <a:ext cx="13533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63824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Policy as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(Sentinel / OPA)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498848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4498848" y="2660904"/>
            <a:ext cx="135331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0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tagging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907024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907024" y="2660904"/>
            <a:ext cx="135331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80176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observability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(Dynatrace / Grafana)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315200" y="2660904"/>
            <a:ext cx="1353312" cy="713232"/>
          </a:xfrm>
          <a:prstGeom prst="rect">
            <a:avLst/>
          </a:prstGeom>
          <a:solidFill>
            <a:srgbClr val="0D1629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315200" y="2660904"/>
            <a:ext cx="135331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88352" y="2752344"/>
            <a:ext cx="1243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SLO alerting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routing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solidFill>
            <a:srgbClr val="0F1D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274320" y="3913632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0624" y="39684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actions — commit code, merge PR.  </a:t>
            </a:r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the platform.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pipeline assembly, no secrets wrangling, no manual approvals, no ad-hoc scanning.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0" y="4462272"/>
            <a:ext cx="9144000" cy="5715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45537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platform is invisible to developers — and that is exactly the point."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</a:rPr>
              <a:t>SLIDE 5  ·  OPERATING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017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— </a:t>
            </a:r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Accounts &amp;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ORGANISATIONAL MODEL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749808"/>
          </a:xfrm>
          <a:prstGeom prst="rect">
            <a:avLst/>
          </a:prstGeom>
          <a:solidFill>
            <a:srgbClr val="0F2550"/>
          </a:solidFill>
          <a:ln w="19050">
            <a:solidFill>
              <a:srgbClr val="2E7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64008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52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Central Platform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371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 · Pipeline templates · Security baseline · Observability stack · Cost governance · Day-2 operations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0" y="1847088"/>
            <a:ext cx="0" cy="164592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1984248"/>
            <a:ext cx="128016" cy="64008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048256"/>
            <a:ext cx="3200400" cy="713232"/>
          </a:xfrm>
          <a:prstGeom prst="rect">
            <a:avLst/>
          </a:prstGeom>
          <a:solidFill>
            <a:srgbClr val="131D38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048256"/>
            <a:ext cx="32004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0939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Embedded Platform Engineers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2304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major product domain. Accelerate adoption, feed requirements back to the platform team.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2761488"/>
            <a:ext cx="0" cy="164592"/>
          </a:xfrm>
          <a:prstGeom prst="line">
            <a:avLst/>
          </a:prstGeom>
          <a:noFill/>
          <a:ln w="19050">
            <a:solidFill>
              <a:srgbClr val="3D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3432" y="2898648"/>
            <a:ext cx="128016" cy="64008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62656"/>
            <a:ext cx="1237488" cy="621792"/>
          </a:xfrm>
          <a:prstGeom prst="rect">
            <a:avLst/>
          </a:prstGeom>
          <a:solidFill>
            <a:srgbClr val="172040"/>
          </a:solidFill>
          <a:ln w="9525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62656"/>
            <a:ext cx="1237488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999232"/>
            <a:ext cx="114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1)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8968" y="2962656"/>
            <a:ext cx="1237488" cy="621792"/>
          </a:xfrm>
          <a:prstGeom prst="rect">
            <a:avLst/>
          </a:prstGeom>
          <a:solidFill>
            <a:srgbClr val="172040"/>
          </a:solidFill>
          <a:ln w="9525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8968" y="2962656"/>
            <a:ext cx="1237488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22120" y="2999232"/>
            <a:ext cx="114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2)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77896" y="2962656"/>
            <a:ext cx="1237488" cy="621792"/>
          </a:xfrm>
          <a:prstGeom prst="rect">
            <a:avLst/>
          </a:prstGeom>
          <a:solidFill>
            <a:srgbClr val="172040"/>
          </a:solidFill>
          <a:ln w="9525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77896" y="2962656"/>
            <a:ext cx="1237488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51048" y="2999232"/>
            <a:ext cx="114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App Team 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N…)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36210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ship features. Not manage infra.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44568" y="841248"/>
            <a:ext cx="18288" cy="3383280"/>
          </a:xfrm>
          <a:prstGeom prst="rect">
            <a:avLst/>
          </a:prstGeom>
          <a:solidFill>
            <a:srgbClr val="253A6B"/>
          </a:solidFill>
          <a:ln w="12700">
            <a:solidFill>
              <a:srgbClr val="25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868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WHO OWNS WHAT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81728" y="1097280"/>
            <a:ext cx="4206240" cy="256032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1097280"/>
            <a:ext cx="45720" cy="2560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114300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zones &amp; accounts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70648" y="11430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81728" y="1389888"/>
            <a:ext cx="4206240" cy="256032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1389888"/>
            <a:ext cx="45720" cy="2560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14356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templates (golden paths)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70648" y="1435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81728" y="1682496"/>
            <a:ext cx="4206240" cy="256032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1728" y="1682496"/>
            <a:ext cx="45720" cy="2560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172821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 &amp; scanning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70648" y="17282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81728" y="1975104"/>
            <a:ext cx="4206240" cy="256032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1975104"/>
            <a:ext cx="45720" cy="2560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202082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(Vault)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70648" y="2020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81728" y="2267712"/>
            <a:ext cx="4206240" cy="256032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1728" y="2267712"/>
            <a:ext cx="45720" cy="256032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2313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70648" y="2313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E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 Team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81728" y="2560320"/>
            <a:ext cx="4206240" cy="256032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81728" y="2560320"/>
            <a:ext cx="45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2606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&amp; feature delivery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70648" y="26060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81728" y="2852928"/>
            <a:ext cx="4206240" cy="256032"/>
          </a:xfrm>
          <a:prstGeom prst="rect">
            <a:avLst/>
          </a:prstGeom>
          <a:solidFill>
            <a:srgbClr val="131D38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81728" y="2852928"/>
            <a:ext cx="45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28986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SLO targets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70648" y="2898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81728" y="3145536"/>
            <a:ext cx="4206240" cy="256032"/>
          </a:xfrm>
          <a:prstGeom prst="rect">
            <a:avLst/>
          </a:prstGeom>
          <a:solidFill>
            <a:srgbClr val="172040"/>
          </a:solidFill>
          <a:ln w="6350">
            <a:solidFill>
              <a:srgbClr val="25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81728" y="3145536"/>
            <a:ext cx="457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31912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budget ownership (per team)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70648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81728" y="3383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94A3B8"/>
                </a:solidFill>
              </a:rPr>
              <a:t>ACCOUNT GOVERNANCE MODEL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81728" y="3621024"/>
            <a:ext cx="980694" cy="768096"/>
          </a:xfrm>
          <a:prstGeom prst="rect">
            <a:avLst/>
          </a:prstGeom>
          <a:solidFill>
            <a:srgbClr val="0D1629"/>
          </a:solidFill>
          <a:ln w="9525">
            <a:solidFill>
              <a:srgbClr val="2E7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81728" y="3621024"/>
            <a:ext cx="980694" cy="4572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3657600"/>
            <a:ext cx="8892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Organizations /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Mgmt Groups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36592" y="4078224"/>
            <a:ext cx="88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team owns the hierarchy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708142" y="3621024"/>
            <a:ext cx="980694" cy="768096"/>
          </a:xfrm>
          <a:prstGeom prst="rect">
            <a:avLst/>
          </a:prstGeom>
          <a:solidFill>
            <a:srgbClr val="0D1629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708142" y="3621024"/>
            <a:ext cx="98069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3006" y="3657600"/>
            <a:ext cx="8892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tagging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763006" y="4078224"/>
            <a:ext cx="88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via Terraform + OPA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734556" y="3621024"/>
            <a:ext cx="980694" cy="768096"/>
          </a:xfrm>
          <a:prstGeom prst="rect">
            <a:avLst/>
          </a:prstGeom>
          <a:solidFill>
            <a:srgbClr val="0D1629"/>
          </a:solidFill>
          <a:ln w="9525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734556" y="3621024"/>
            <a:ext cx="980694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89420" y="3657600"/>
            <a:ext cx="8892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789420" y="4078224"/>
            <a:ext cx="88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approval gate required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760970" y="3621024"/>
            <a:ext cx="980694" cy="768096"/>
          </a:xfrm>
          <a:prstGeom prst="rect">
            <a:avLst/>
          </a:prstGeom>
          <a:solidFill>
            <a:srgbClr val="0D1629"/>
          </a:solidFill>
          <a:ln w="9525">
            <a:solidFill>
              <a:srgbClr val="E03A3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760970" y="3621024"/>
            <a:ext cx="980694" cy="4572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15834" y="3657600"/>
            <a:ext cx="8892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policies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(SCPs / Azure Policy)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815834" y="4078224"/>
            <a:ext cx="889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bypasses without exception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0" y="4462272"/>
            <a:ext cx="9144000" cy="5715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4462272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5537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product.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 as customers.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ownership of everything they shouldn't have to think about.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Platform Engineering Strategy</dc:title>
  <dc:subject>PptxGenJS Presentation</dc:subject>
  <dc:creator>PptxGenJS</dc:creator>
  <cp:lastModifiedBy>PptxGenJS</cp:lastModifiedBy>
  <cp:revision>1</cp:revision>
  <dcterms:created xsi:type="dcterms:W3CDTF">2026-03-23T10:45:40Z</dcterms:created>
  <dcterms:modified xsi:type="dcterms:W3CDTF">2026-03-23T10:45:40Z</dcterms:modified>
</cp:coreProperties>
</file>